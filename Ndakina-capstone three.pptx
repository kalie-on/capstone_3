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webextensions/webextension1.xml" ContentType="application/vnd.ms-office.webextension+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1" r:id="rId1"/>
  </p:sldMasterIdLst>
  <p:sldIdLst>
    <p:sldId id="256" r:id="rId2"/>
    <p:sldId id="257" r:id="rId3"/>
    <p:sldId id="263" r:id="rId4"/>
    <p:sldId id="258" r:id="rId5"/>
    <p:sldId id="260" r:id="rId6"/>
    <p:sldId id="261" r:id="rId7"/>
    <p:sldId id="262" r:id="rId8"/>
    <p:sldId id="264" r:id="rId9"/>
    <p:sldId id="266"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D3694F6-991F-E7A2-D0EE-23A79F9608E7}" v="6" dt="2026-06-24T20:17:43.344"/>
    <p1510:client id="{45561B42-89C6-08B4-CDD2-A9C91B774E41}" v="887" dt="2026-06-24T20:12:53.427"/>
    <p1510:client id="{4CFD10D2-6EDE-4144-AC8A-9E60A5632AB1}" v="19" dt="2026-06-24T22:01:59.458"/>
    <p1510:client id="{5E45F925-CBD3-9B29-D069-41564B64C3E6}" v="6" dt="2026-06-24T15:45:40.218"/>
    <p1510:client id="{9E278863-42AA-D1C2-E401-118663D0B128}" v="286" dt="2026-06-25T21:39:04.822"/>
    <p1510:client id="{BF1D8B0C-B887-F811-8FDB-1CCBA2F344A6}" v="361" dt="2026-06-24T20:05:03.23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_rels/data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svg"/><Relationship Id="rId1" Type="http://schemas.openxmlformats.org/officeDocument/2006/relationships/hyperlink" Target="https://github.com/kalie-on/Capstone_3.git" TargetMode="External"/><Relationship Id="rId4" Type="http://schemas.openxmlformats.org/officeDocument/2006/relationships/image" Target="../media/image9.svg"/></Relationships>
</file>

<file path=ppt/diagrams/_rels/drawing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svg"/><Relationship Id="rId1" Type="http://schemas.openxmlformats.org/officeDocument/2006/relationships/image" Target="../media/image7.svg"/><Relationship Id="rId4" Type="http://schemas.openxmlformats.org/officeDocument/2006/relationships/hyperlink" Target="https://github.com/kalie-on/Capstone_3.git"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04EAEB5-3713-42CF-90CA-4AC497E5F177}" type="doc">
      <dgm:prSet loTypeId="urn:microsoft.com/office/officeart/2005/8/layout/hierarchy1" loCatId="hierarchy" qsTypeId="urn:microsoft.com/office/officeart/2005/8/quickstyle/simple1" qsCatId="simple" csTypeId="urn:microsoft.com/office/officeart/2005/8/colors/accent1_2" csCatId="accent1"/>
      <dgm:spPr/>
      <dgm:t>
        <a:bodyPr/>
        <a:lstStyle/>
        <a:p>
          <a:endParaRPr lang="en-US"/>
        </a:p>
      </dgm:t>
    </dgm:pt>
    <dgm:pt modelId="{1768B56F-6846-4D60-B583-16DD5EBF4A24}">
      <dgm:prSet/>
      <dgm:spPr/>
      <dgm:t>
        <a:bodyPr/>
        <a:lstStyle/>
        <a:p>
          <a:r>
            <a:rPr lang="en-US"/>
            <a:t>Based on my analysis, I recommend that Emporium continue investing in high-performing categories such as Technology &amp; Accessories, as they generate the highest sales. I also recommend implementing targeted promotions and marketing strategies to improve sales in lower-performing categories and store locations. </a:t>
          </a:r>
        </a:p>
      </dgm:t>
    </dgm:pt>
    <dgm:pt modelId="{F1F3A56F-D61F-4C3F-9FA9-7DBC8FA80948}" type="parTrans" cxnId="{42DB101F-6C96-4D30-B03E-D72D7B0C35A8}">
      <dgm:prSet/>
      <dgm:spPr/>
      <dgm:t>
        <a:bodyPr/>
        <a:lstStyle/>
        <a:p>
          <a:endParaRPr lang="en-US"/>
        </a:p>
      </dgm:t>
    </dgm:pt>
    <dgm:pt modelId="{A0975928-B5E1-46B3-A158-9C3FDB52DD9E}" type="sibTrans" cxnId="{42DB101F-6C96-4D30-B03E-D72D7B0C35A8}">
      <dgm:prSet/>
      <dgm:spPr/>
      <dgm:t>
        <a:bodyPr/>
        <a:lstStyle/>
        <a:p>
          <a:endParaRPr lang="en-US"/>
        </a:p>
      </dgm:t>
    </dgm:pt>
    <dgm:pt modelId="{2384CDBD-A9D4-471D-BB99-6FBE3BA33580}">
      <dgm:prSet/>
      <dgm:spPr/>
      <dgm:t>
        <a:bodyPr/>
        <a:lstStyle/>
        <a:p>
          <a:r>
            <a:rPr lang="en-US"/>
            <a:t>Finally, leveraging best-selling books through featured displays and promotional campaigns can help attract more customers and increase revenue. I believe these strategies will help sustain sales growth and improve overall business performance in the next quarter.</a:t>
          </a:r>
        </a:p>
      </dgm:t>
    </dgm:pt>
    <dgm:pt modelId="{AB1580C1-AC3B-4265-9541-EDFBE539A616}" type="parTrans" cxnId="{2829E6A4-5A33-4F9D-A948-FE152D797F4F}">
      <dgm:prSet/>
      <dgm:spPr/>
      <dgm:t>
        <a:bodyPr/>
        <a:lstStyle/>
        <a:p>
          <a:endParaRPr lang="en-US"/>
        </a:p>
      </dgm:t>
    </dgm:pt>
    <dgm:pt modelId="{C1382873-B8D7-46AF-8800-85800CA4977D}" type="sibTrans" cxnId="{2829E6A4-5A33-4F9D-A948-FE152D797F4F}">
      <dgm:prSet/>
      <dgm:spPr/>
      <dgm:t>
        <a:bodyPr/>
        <a:lstStyle/>
        <a:p>
          <a:endParaRPr lang="en-US"/>
        </a:p>
      </dgm:t>
    </dgm:pt>
    <dgm:pt modelId="{91C53C6C-2BD1-47C9-9821-128D7AE7A709}" type="pres">
      <dgm:prSet presAssocID="{C04EAEB5-3713-42CF-90CA-4AC497E5F177}" presName="hierChild1" presStyleCnt="0">
        <dgm:presLayoutVars>
          <dgm:chPref val="1"/>
          <dgm:dir/>
          <dgm:animOne val="branch"/>
          <dgm:animLvl val="lvl"/>
          <dgm:resizeHandles/>
        </dgm:presLayoutVars>
      </dgm:prSet>
      <dgm:spPr/>
    </dgm:pt>
    <dgm:pt modelId="{EBB2BAB0-8B39-4100-A716-02FED99FA7B4}" type="pres">
      <dgm:prSet presAssocID="{1768B56F-6846-4D60-B583-16DD5EBF4A24}" presName="hierRoot1" presStyleCnt="0"/>
      <dgm:spPr/>
    </dgm:pt>
    <dgm:pt modelId="{E307FCA1-F3C5-4450-85D8-0234E7CDC1E5}" type="pres">
      <dgm:prSet presAssocID="{1768B56F-6846-4D60-B583-16DD5EBF4A24}" presName="composite" presStyleCnt="0"/>
      <dgm:spPr/>
    </dgm:pt>
    <dgm:pt modelId="{5D0D6440-5190-4B83-8B17-EE71D348CFD5}" type="pres">
      <dgm:prSet presAssocID="{1768B56F-6846-4D60-B583-16DD5EBF4A24}" presName="background" presStyleLbl="node0" presStyleIdx="0" presStyleCnt="2"/>
      <dgm:spPr/>
    </dgm:pt>
    <dgm:pt modelId="{0D2A62D5-3617-426B-BE60-E395B34F9CD8}" type="pres">
      <dgm:prSet presAssocID="{1768B56F-6846-4D60-B583-16DD5EBF4A24}" presName="text" presStyleLbl="fgAcc0" presStyleIdx="0" presStyleCnt="2">
        <dgm:presLayoutVars>
          <dgm:chPref val="3"/>
        </dgm:presLayoutVars>
      </dgm:prSet>
      <dgm:spPr/>
    </dgm:pt>
    <dgm:pt modelId="{67B91480-40B1-4F5D-993A-02F73C432A4D}" type="pres">
      <dgm:prSet presAssocID="{1768B56F-6846-4D60-B583-16DD5EBF4A24}" presName="hierChild2" presStyleCnt="0"/>
      <dgm:spPr/>
    </dgm:pt>
    <dgm:pt modelId="{D97B20DE-D6F9-4509-841B-7227034E8EBE}" type="pres">
      <dgm:prSet presAssocID="{2384CDBD-A9D4-471D-BB99-6FBE3BA33580}" presName="hierRoot1" presStyleCnt="0"/>
      <dgm:spPr/>
    </dgm:pt>
    <dgm:pt modelId="{41EB88C6-28E4-4EEA-B650-B8040B770E34}" type="pres">
      <dgm:prSet presAssocID="{2384CDBD-A9D4-471D-BB99-6FBE3BA33580}" presName="composite" presStyleCnt="0"/>
      <dgm:spPr/>
    </dgm:pt>
    <dgm:pt modelId="{B01E93EB-8CA9-425D-8A66-0B58A41D0858}" type="pres">
      <dgm:prSet presAssocID="{2384CDBD-A9D4-471D-BB99-6FBE3BA33580}" presName="background" presStyleLbl="node0" presStyleIdx="1" presStyleCnt="2"/>
      <dgm:spPr/>
    </dgm:pt>
    <dgm:pt modelId="{915F0ACC-C788-4191-AA9C-9CDB89AE1E1E}" type="pres">
      <dgm:prSet presAssocID="{2384CDBD-A9D4-471D-BB99-6FBE3BA33580}" presName="text" presStyleLbl="fgAcc0" presStyleIdx="1" presStyleCnt="2">
        <dgm:presLayoutVars>
          <dgm:chPref val="3"/>
        </dgm:presLayoutVars>
      </dgm:prSet>
      <dgm:spPr/>
    </dgm:pt>
    <dgm:pt modelId="{BA14AFC0-DC55-4CF0-BB93-0A950E021A61}" type="pres">
      <dgm:prSet presAssocID="{2384CDBD-A9D4-471D-BB99-6FBE3BA33580}" presName="hierChild2" presStyleCnt="0"/>
      <dgm:spPr/>
    </dgm:pt>
  </dgm:ptLst>
  <dgm:cxnLst>
    <dgm:cxn modelId="{42DB101F-6C96-4D30-B03E-D72D7B0C35A8}" srcId="{C04EAEB5-3713-42CF-90CA-4AC497E5F177}" destId="{1768B56F-6846-4D60-B583-16DD5EBF4A24}" srcOrd="0" destOrd="0" parTransId="{F1F3A56F-D61F-4C3F-9FA9-7DBC8FA80948}" sibTransId="{A0975928-B5E1-46B3-A158-9C3FDB52DD9E}"/>
    <dgm:cxn modelId="{C8477B27-CFCC-456E-A273-AC38D3583909}" type="presOf" srcId="{2384CDBD-A9D4-471D-BB99-6FBE3BA33580}" destId="{915F0ACC-C788-4191-AA9C-9CDB89AE1E1E}" srcOrd="0" destOrd="0" presId="urn:microsoft.com/office/officeart/2005/8/layout/hierarchy1"/>
    <dgm:cxn modelId="{CA7DBD53-0542-4623-B0B3-4AEA3760C878}" type="presOf" srcId="{1768B56F-6846-4D60-B583-16DD5EBF4A24}" destId="{0D2A62D5-3617-426B-BE60-E395B34F9CD8}" srcOrd="0" destOrd="0" presId="urn:microsoft.com/office/officeart/2005/8/layout/hierarchy1"/>
    <dgm:cxn modelId="{FEA58F9F-7C7D-412A-9B52-1BAFE5C15903}" type="presOf" srcId="{C04EAEB5-3713-42CF-90CA-4AC497E5F177}" destId="{91C53C6C-2BD1-47C9-9821-128D7AE7A709}" srcOrd="0" destOrd="0" presId="urn:microsoft.com/office/officeart/2005/8/layout/hierarchy1"/>
    <dgm:cxn modelId="{2829E6A4-5A33-4F9D-A948-FE152D797F4F}" srcId="{C04EAEB5-3713-42CF-90CA-4AC497E5F177}" destId="{2384CDBD-A9D4-471D-BB99-6FBE3BA33580}" srcOrd="1" destOrd="0" parTransId="{AB1580C1-AC3B-4265-9541-EDFBE539A616}" sibTransId="{C1382873-B8D7-46AF-8800-85800CA4977D}"/>
    <dgm:cxn modelId="{6EB95258-498E-4D5A-A4A3-E12FDD61CE8A}" type="presParOf" srcId="{91C53C6C-2BD1-47C9-9821-128D7AE7A709}" destId="{EBB2BAB0-8B39-4100-A716-02FED99FA7B4}" srcOrd="0" destOrd="0" presId="urn:microsoft.com/office/officeart/2005/8/layout/hierarchy1"/>
    <dgm:cxn modelId="{6F6ECBCC-7522-45E4-A8BA-465446C3C07D}" type="presParOf" srcId="{EBB2BAB0-8B39-4100-A716-02FED99FA7B4}" destId="{E307FCA1-F3C5-4450-85D8-0234E7CDC1E5}" srcOrd="0" destOrd="0" presId="urn:microsoft.com/office/officeart/2005/8/layout/hierarchy1"/>
    <dgm:cxn modelId="{97E4049F-5A24-4746-A460-4CA00D1553A8}" type="presParOf" srcId="{E307FCA1-F3C5-4450-85D8-0234E7CDC1E5}" destId="{5D0D6440-5190-4B83-8B17-EE71D348CFD5}" srcOrd="0" destOrd="0" presId="urn:microsoft.com/office/officeart/2005/8/layout/hierarchy1"/>
    <dgm:cxn modelId="{1F199AF8-60B6-4869-88A8-77289E8B958A}" type="presParOf" srcId="{E307FCA1-F3C5-4450-85D8-0234E7CDC1E5}" destId="{0D2A62D5-3617-426B-BE60-E395B34F9CD8}" srcOrd="1" destOrd="0" presId="urn:microsoft.com/office/officeart/2005/8/layout/hierarchy1"/>
    <dgm:cxn modelId="{85AA3F14-0087-4663-A5CB-40834B384D62}" type="presParOf" srcId="{EBB2BAB0-8B39-4100-A716-02FED99FA7B4}" destId="{67B91480-40B1-4F5D-993A-02F73C432A4D}" srcOrd="1" destOrd="0" presId="urn:microsoft.com/office/officeart/2005/8/layout/hierarchy1"/>
    <dgm:cxn modelId="{634F303A-DB52-4CEE-BFE9-182F305386DC}" type="presParOf" srcId="{91C53C6C-2BD1-47C9-9821-128D7AE7A709}" destId="{D97B20DE-D6F9-4509-841B-7227034E8EBE}" srcOrd="1" destOrd="0" presId="urn:microsoft.com/office/officeart/2005/8/layout/hierarchy1"/>
    <dgm:cxn modelId="{E01CD3AC-F62C-4B08-BF44-56EFBD7A77E3}" type="presParOf" srcId="{D97B20DE-D6F9-4509-841B-7227034E8EBE}" destId="{41EB88C6-28E4-4EEA-B650-B8040B770E34}" srcOrd="0" destOrd="0" presId="urn:microsoft.com/office/officeart/2005/8/layout/hierarchy1"/>
    <dgm:cxn modelId="{7EB38FB9-DABF-49D3-A311-D24B84B32A94}" type="presParOf" srcId="{41EB88C6-28E4-4EEA-B650-B8040B770E34}" destId="{B01E93EB-8CA9-425D-8A66-0B58A41D0858}" srcOrd="0" destOrd="0" presId="urn:microsoft.com/office/officeart/2005/8/layout/hierarchy1"/>
    <dgm:cxn modelId="{781AE58C-BB25-4D22-BE8C-0CB7B8EC1022}" type="presParOf" srcId="{41EB88C6-28E4-4EEA-B650-B8040B770E34}" destId="{915F0ACC-C788-4191-AA9C-9CDB89AE1E1E}" srcOrd="1" destOrd="0" presId="urn:microsoft.com/office/officeart/2005/8/layout/hierarchy1"/>
    <dgm:cxn modelId="{A24CC8AE-6BB0-4EA1-AFDD-17C030BD5EF8}" type="presParOf" srcId="{D97B20DE-D6F9-4509-841B-7227034E8EBE}" destId="{BA14AFC0-DC55-4CF0-BB93-0A950E021A61}" srcOrd="1" destOrd="0" presId="urn:microsoft.com/office/officeart/2005/8/layout/hierarchy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B85BCC3-4ED0-4CD3-963F-FE9E57C8B75C}"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357AE764-397D-468D-B3CD-74F208359DFF}">
      <dgm:prSet/>
      <dgm:spPr/>
      <dgm:t>
        <a:bodyPr/>
        <a:lstStyle/>
        <a:p>
          <a:pPr>
            <a:lnSpc>
              <a:spcPct val="100000"/>
            </a:lnSpc>
          </a:pPr>
          <a:r>
            <a:rPr lang="en-US"/>
            <a:t>Thank You For Your time </a:t>
          </a:r>
        </a:p>
      </dgm:t>
    </dgm:pt>
    <dgm:pt modelId="{7FB1527F-EC36-4EA0-8C1A-3E2D32A5F29A}" type="parTrans" cxnId="{42C08753-43F0-4DFD-91C6-56BE58407EA4}">
      <dgm:prSet/>
      <dgm:spPr/>
      <dgm:t>
        <a:bodyPr/>
        <a:lstStyle/>
        <a:p>
          <a:endParaRPr lang="en-US"/>
        </a:p>
      </dgm:t>
    </dgm:pt>
    <dgm:pt modelId="{273D4E64-FDFA-43AA-9478-D4F9F5F2AC88}" type="sibTrans" cxnId="{42C08753-43F0-4DFD-91C6-56BE58407EA4}">
      <dgm:prSet/>
      <dgm:spPr/>
      <dgm:t>
        <a:bodyPr/>
        <a:lstStyle/>
        <a:p>
          <a:endParaRPr lang="en-US"/>
        </a:p>
      </dgm:t>
    </dgm:pt>
    <dgm:pt modelId="{4D133AFC-6A3B-4AD0-83E5-323DAA752B36}">
      <dgm:prSet/>
      <dgm:spPr/>
      <dgm:t>
        <a:bodyPr/>
        <a:lstStyle/>
        <a:p>
          <a:pPr>
            <a:lnSpc>
              <a:spcPct val="100000"/>
            </a:lnSpc>
          </a:pPr>
          <a:r>
            <a:rPr lang="en-US"/>
            <a:t>You can visit my Git Hub Repository for more insight on EmporiUm west Region</a:t>
          </a:r>
        </a:p>
      </dgm:t>
    </dgm:pt>
    <dgm:pt modelId="{3F967BA3-C2E9-401F-B65F-26C6B38D92DA}" type="parTrans" cxnId="{B1F7D631-D708-47CF-839A-7C027F59AE15}">
      <dgm:prSet/>
      <dgm:spPr/>
      <dgm:t>
        <a:bodyPr/>
        <a:lstStyle/>
        <a:p>
          <a:endParaRPr lang="en-US"/>
        </a:p>
      </dgm:t>
    </dgm:pt>
    <dgm:pt modelId="{F442BFD8-A792-4F6D-AE62-E54148665478}" type="sibTrans" cxnId="{B1F7D631-D708-47CF-839A-7C027F59AE15}">
      <dgm:prSet/>
      <dgm:spPr/>
      <dgm:t>
        <a:bodyPr/>
        <a:lstStyle/>
        <a:p>
          <a:endParaRPr lang="en-US"/>
        </a:p>
      </dgm:t>
    </dgm:pt>
    <dgm:pt modelId="{8B5D4943-F9F8-434F-9DB9-BD250221957D}">
      <dgm:prSet/>
      <dgm:spPr/>
      <dgm:t>
        <a:bodyPr/>
        <a:lstStyle/>
        <a:p>
          <a:pPr>
            <a:lnSpc>
              <a:spcPct val="100000"/>
            </a:lnSpc>
          </a:pPr>
          <a:r>
            <a:rPr lang="en-US">
              <a:hlinkClick xmlns:r="http://schemas.openxmlformats.org/officeDocument/2006/relationships" r:id="rId1"/>
            </a:rPr>
            <a:t>https://github.com/kalie-on/Capstone_3.git</a:t>
          </a:r>
          <a:endParaRPr lang="en-US"/>
        </a:p>
      </dgm:t>
    </dgm:pt>
    <dgm:pt modelId="{53414C11-179C-4294-A189-A709EDC3CB88}" type="parTrans" cxnId="{915001A0-6D85-43FE-A108-60C793299424}">
      <dgm:prSet/>
      <dgm:spPr/>
      <dgm:t>
        <a:bodyPr/>
        <a:lstStyle/>
        <a:p>
          <a:endParaRPr lang="en-US"/>
        </a:p>
      </dgm:t>
    </dgm:pt>
    <dgm:pt modelId="{04BE491F-C8C3-4BC2-BF64-04EE38A71939}" type="sibTrans" cxnId="{915001A0-6D85-43FE-A108-60C793299424}">
      <dgm:prSet/>
      <dgm:spPr/>
      <dgm:t>
        <a:bodyPr/>
        <a:lstStyle/>
        <a:p>
          <a:endParaRPr lang="en-US"/>
        </a:p>
      </dgm:t>
    </dgm:pt>
    <dgm:pt modelId="{57B71F7F-8952-4AB6-A835-533DE8DFEBD8}" type="pres">
      <dgm:prSet presAssocID="{DB85BCC3-4ED0-4CD3-963F-FE9E57C8B75C}" presName="root" presStyleCnt="0">
        <dgm:presLayoutVars>
          <dgm:dir/>
          <dgm:resizeHandles val="exact"/>
        </dgm:presLayoutVars>
      </dgm:prSet>
      <dgm:spPr/>
    </dgm:pt>
    <dgm:pt modelId="{D3E9BBB3-8F04-4B4B-AF34-2A0F6F7C1F27}" type="pres">
      <dgm:prSet presAssocID="{357AE764-397D-468D-B3CD-74F208359DFF}" presName="compNode" presStyleCnt="0"/>
      <dgm:spPr/>
    </dgm:pt>
    <dgm:pt modelId="{C84C6C2C-F48B-4D42-B8BB-5393183DB3BC}" type="pres">
      <dgm:prSet presAssocID="{357AE764-397D-468D-B3CD-74F208359DFF}" presName="bgRect" presStyleLbl="bgShp" presStyleIdx="0" presStyleCnt="3"/>
      <dgm:spPr/>
    </dgm:pt>
    <dgm:pt modelId="{1720E559-9E0E-4B85-B5D1-218B23FCB675}" type="pres">
      <dgm:prSet presAssocID="{357AE764-397D-468D-B3CD-74F208359DFF}"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Smiling Face with No Fill"/>
        </a:ext>
      </dgm:extLst>
    </dgm:pt>
    <dgm:pt modelId="{95BAFD3E-4374-47E2-B8CC-F1CFA977A1C0}" type="pres">
      <dgm:prSet presAssocID="{357AE764-397D-468D-B3CD-74F208359DFF}" presName="spaceRect" presStyleCnt="0"/>
      <dgm:spPr/>
    </dgm:pt>
    <dgm:pt modelId="{7CB03DAE-CE34-4B08-B4C1-4ABBB7B021EE}" type="pres">
      <dgm:prSet presAssocID="{357AE764-397D-468D-B3CD-74F208359DFF}" presName="parTx" presStyleLbl="revTx" presStyleIdx="0" presStyleCnt="3">
        <dgm:presLayoutVars>
          <dgm:chMax val="0"/>
          <dgm:chPref val="0"/>
        </dgm:presLayoutVars>
      </dgm:prSet>
      <dgm:spPr/>
    </dgm:pt>
    <dgm:pt modelId="{7089F656-FCF0-4226-9C18-875008834F75}" type="pres">
      <dgm:prSet presAssocID="{273D4E64-FDFA-43AA-9478-D4F9F5F2AC88}" presName="sibTrans" presStyleCnt="0"/>
      <dgm:spPr/>
    </dgm:pt>
    <dgm:pt modelId="{741C3DC7-D97B-4CFE-B98C-0154DC79F29C}" type="pres">
      <dgm:prSet presAssocID="{4D133AFC-6A3B-4AD0-83E5-323DAA752B36}" presName="compNode" presStyleCnt="0"/>
      <dgm:spPr/>
    </dgm:pt>
    <dgm:pt modelId="{102F3E84-9333-42CA-8D1E-F15D1E813A49}" type="pres">
      <dgm:prSet presAssocID="{4D133AFC-6A3B-4AD0-83E5-323DAA752B36}" presName="bgRect" presStyleLbl="bgShp" presStyleIdx="1" presStyleCnt="3"/>
      <dgm:spPr/>
    </dgm:pt>
    <dgm:pt modelId="{8D1EE32D-B19F-42C7-9A93-69A00CCF7809}" type="pres">
      <dgm:prSet presAssocID="{4D133AFC-6A3B-4AD0-83E5-323DAA752B36}"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Marker"/>
        </a:ext>
      </dgm:extLst>
    </dgm:pt>
    <dgm:pt modelId="{788DE0ED-D3CE-4B62-8C4A-0B49A9A81932}" type="pres">
      <dgm:prSet presAssocID="{4D133AFC-6A3B-4AD0-83E5-323DAA752B36}" presName="spaceRect" presStyleCnt="0"/>
      <dgm:spPr/>
    </dgm:pt>
    <dgm:pt modelId="{0AF1772E-9CD6-451A-8094-0AF1CAA762F5}" type="pres">
      <dgm:prSet presAssocID="{4D133AFC-6A3B-4AD0-83E5-323DAA752B36}" presName="parTx" presStyleLbl="revTx" presStyleIdx="1" presStyleCnt="3">
        <dgm:presLayoutVars>
          <dgm:chMax val="0"/>
          <dgm:chPref val="0"/>
        </dgm:presLayoutVars>
      </dgm:prSet>
      <dgm:spPr/>
    </dgm:pt>
    <dgm:pt modelId="{04BFFE10-F9DD-4EF3-ACD9-F9A4936C90AE}" type="pres">
      <dgm:prSet presAssocID="{F442BFD8-A792-4F6D-AE62-E54148665478}" presName="sibTrans" presStyleCnt="0"/>
      <dgm:spPr/>
    </dgm:pt>
    <dgm:pt modelId="{8A9C7370-B15B-4E8A-A453-24E93D37132E}" type="pres">
      <dgm:prSet presAssocID="{8B5D4943-F9F8-434F-9DB9-BD250221957D}" presName="compNode" presStyleCnt="0"/>
      <dgm:spPr/>
    </dgm:pt>
    <dgm:pt modelId="{7775D15D-5149-48F2-8402-CCE77FD24AC2}" type="pres">
      <dgm:prSet presAssocID="{8B5D4943-F9F8-434F-9DB9-BD250221957D}" presName="bgRect" presStyleLbl="bgShp" presStyleIdx="2" presStyleCnt="3"/>
      <dgm:spPr/>
    </dgm:pt>
    <dgm:pt modelId="{8D29DF0F-52FF-431F-8EE9-1EB965C850AD}" type="pres">
      <dgm:prSet presAssocID="{8B5D4943-F9F8-434F-9DB9-BD250221957D}"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Earth Globe Americas"/>
        </a:ext>
      </dgm:extLst>
    </dgm:pt>
    <dgm:pt modelId="{CEA9AF95-B2BA-480C-A1A6-E400CEA09F0C}" type="pres">
      <dgm:prSet presAssocID="{8B5D4943-F9F8-434F-9DB9-BD250221957D}" presName="spaceRect" presStyleCnt="0"/>
      <dgm:spPr/>
    </dgm:pt>
    <dgm:pt modelId="{BCCFBBD7-E90F-4F88-AB21-E5AA4F074608}" type="pres">
      <dgm:prSet presAssocID="{8B5D4943-F9F8-434F-9DB9-BD250221957D}" presName="parTx" presStyleLbl="revTx" presStyleIdx="2" presStyleCnt="3">
        <dgm:presLayoutVars>
          <dgm:chMax val="0"/>
          <dgm:chPref val="0"/>
        </dgm:presLayoutVars>
      </dgm:prSet>
      <dgm:spPr/>
    </dgm:pt>
  </dgm:ptLst>
  <dgm:cxnLst>
    <dgm:cxn modelId="{428FB613-96C1-4C14-8294-0894983BEBA1}" type="presOf" srcId="{357AE764-397D-468D-B3CD-74F208359DFF}" destId="{7CB03DAE-CE34-4B08-B4C1-4ABBB7B021EE}" srcOrd="0" destOrd="0" presId="urn:microsoft.com/office/officeart/2018/2/layout/IconVerticalSolidList"/>
    <dgm:cxn modelId="{B1F7D631-D708-47CF-839A-7C027F59AE15}" srcId="{DB85BCC3-4ED0-4CD3-963F-FE9E57C8B75C}" destId="{4D133AFC-6A3B-4AD0-83E5-323DAA752B36}" srcOrd="1" destOrd="0" parTransId="{3F967BA3-C2E9-401F-B65F-26C6B38D92DA}" sibTransId="{F442BFD8-A792-4F6D-AE62-E54148665478}"/>
    <dgm:cxn modelId="{0E754568-49D1-48B2-92D6-9C4914C8C59A}" type="presOf" srcId="{4D133AFC-6A3B-4AD0-83E5-323DAA752B36}" destId="{0AF1772E-9CD6-451A-8094-0AF1CAA762F5}" srcOrd="0" destOrd="0" presId="urn:microsoft.com/office/officeart/2018/2/layout/IconVerticalSolidList"/>
    <dgm:cxn modelId="{87A7C64F-694C-4D82-894B-09E74BAC6C8B}" type="presOf" srcId="{DB85BCC3-4ED0-4CD3-963F-FE9E57C8B75C}" destId="{57B71F7F-8952-4AB6-A835-533DE8DFEBD8}" srcOrd="0" destOrd="0" presId="urn:microsoft.com/office/officeart/2018/2/layout/IconVerticalSolidList"/>
    <dgm:cxn modelId="{42C08753-43F0-4DFD-91C6-56BE58407EA4}" srcId="{DB85BCC3-4ED0-4CD3-963F-FE9E57C8B75C}" destId="{357AE764-397D-468D-B3CD-74F208359DFF}" srcOrd="0" destOrd="0" parTransId="{7FB1527F-EC36-4EA0-8C1A-3E2D32A5F29A}" sibTransId="{273D4E64-FDFA-43AA-9478-D4F9F5F2AC88}"/>
    <dgm:cxn modelId="{0EECA88B-9D06-4879-82FA-764A5110AB5C}" type="presOf" srcId="{8B5D4943-F9F8-434F-9DB9-BD250221957D}" destId="{BCCFBBD7-E90F-4F88-AB21-E5AA4F074608}" srcOrd="0" destOrd="0" presId="urn:microsoft.com/office/officeart/2018/2/layout/IconVerticalSolidList"/>
    <dgm:cxn modelId="{915001A0-6D85-43FE-A108-60C793299424}" srcId="{DB85BCC3-4ED0-4CD3-963F-FE9E57C8B75C}" destId="{8B5D4943-F9F8-434F-9DB9-BD250221957D}" srcOrd="2" destOrd="0" parTransId="{53414C11-179C-4294-A189-A709EDC3CB88}" sibTransId="{04BE491F-C8C3-4BC2-BF64-04EE38A71939}"/>
    <dgm:cxn modelId="{6D3EB114-70B1-4DD3-B4E4-80CE3F2443A3}" type="presParOf" srcId="{57B71F7F-8952-4AB6-A835-533DE8DFEBD8}" destId="{D3E9BBB3-8F04-4B4B-AF34-2A0F6F7C1F27}" srcOrd="0" destOrd="0" presId="urn:microsoft.com/office/officeart/2018/2/layout/IconVerticalSolidList"/>
    <dgm:cxn modelId="{B6C59C9F-EF64-4EF8-B929-35E647FE655F}" type="presParOf" srcId="{D3E9BBB3-8F04-4B4B-AF34-2A0F6F7C1F27}" destId="{C84C6C2C-F48B-4D42-B8BB-5393183DB3BC}" srcOrd="0" destOrd="0" presId="urn:microsoft.com/office/officeart/2018/2/layout/IconVerticalSolidList"/>
    <dgm:cxn modelId="{8F04D7D3-F38B-46DC-BD59-361C0344AD54}" type="presParOf" srcId="{D3E9BBB3-8F04-4B4B-AF34-2A0F6F7C1F27}" destId="{1720E559-9E0E-4B85-B5D1-218B23FCB675}" srcOrd="1" destOrd="0" presId="urn:microsoft.com/office/officeart/2018/2/layout/IconVerticalSolidList"/>
    <dgm:cxn modelId="{CD35459C-955F-46BE-A4EF-BB5B9FE6B69E}" type="presParOf" srcId="{D3E9BBB3-8F04-4B4B-AF34-2A0F6F7C1F27}" destId="{95BAFD3E-4374-47E2-B8CC-F1CFA977A1C0}" srcOrd="2" destOrd="0" presId="urn:microsoft.com/office/officeart/2018/2/layout/IconVerticalSolidList"/>
    <dgm:cxn modelId="{BDBAD049-931C-42BD-A3B5-B06E03233BD1}" type="presParOf" srcId="{D3E9BBB3-8F04-4B4B-AF34-2A0F6F7C1F27}" destId="{7CB03DAE-CE34-4B08-B4C1-4ABBB7B021EE}" srcOrd="3" destOrd="0" presId="urn:microsoft.com/office/officeart/2018/2/layout/IconVerticalSolidList"/>
    <dgm:cxn modelId="{CA539278-12E8-479A-9644-2EFA0B576811}" type="presParOf" srcId="{57B71F7F-8952-4AB6-A835-533DE8DFEBD8}" destId="{7089F656-FCF0-4226-9C18-875008834F75}" srcOrd="1" destOrd="0" presId="urn:microsoft.com/office/officeart/2018/2/layout/IconVerticalSolidList"/>
    <dgm:cxn modelId="{158187CD-5974-4A95-98C8-378AB3701615}" type="presParOf" srcId="{57B71F7F-8952-4AB6-A835-533DE8DFEBD8}" destId="{741C3DC7-D97B-4CFE-B98C-0154DC79F29C}" srcOrd="2" destOrd="0" presId="urn:microsoft.com/office/officeart/2018/2/layout/IconVerticalSolidList"/>
    <dgm:cxn modelId="{6FCDB6C3-1CD4-4F20-9DAC-692F9AC09AEF}" type="presParOf" srcId="{741C3DC7-D97B-4CFE-B98C-0154DC79F29C}" destId="{102F3E84-9333-42CA-8D1E-F15D1E813A49}" srcOrd="0" destOrd="0" presId="urn:microsoft.com/office/officeart/2018/2/layout/IconVerticalSolidList"/>
    <dgm:cxn modelId="{D1F649AA-44CE-4BF9-ADC9-89D64B6B7B39}" type="presParOf" srcId="{741C3DC7-D97B-4CFE-B98C-0154DC79F29C}" destId="{8D1EE32D-B19F-42C7-9A93-69A00CCF7809}" srcOrd="1" destOrd="0" presId="urn:microsoft.com/office/officeart/2018/2/layout/IconVerticalSolidList"/>
    <dgm:cxn modelId="{51262300-CF78-4EE4-922B-77A72B06E61B}" type="presParOf" srcId="{741C3DC7-D97B-4CFE-B98C-0154DC79F29C}" destId="{788DE0ED-D3CE-4B62-8C4A-0B49A9A81932}" srcOrd="2" destOrd="0" presId="urn:microsoft.com/office/officeart/2018/2/layout/IconVerticalSolidList"/>
    <dgm:cxn modelId="{AEFBD581-F116-452C-BD9A-97CE75C331DD}" type="presParOf" srcId="{741C3DC7-D97B-4CFE-B98C-0154DC79F29C}" destId="{0AF1772E-9CD6-451A-8094-0AF1CAA762F5}" srcOrd="3" destOrd="0" presId="urn:microsoft.com/office/officeart/2018/2/layout/IconVerticalSolidList"/>
    <dgm:cxn modelId="{36E2FED1-4C85-4BA5-B14B-35E1E43FE6E3}" type="presParOf" srcId="{57B71F7F-8952-4AB6-A835-533DE8DFEBD8}" destId="{04BFFE10-F9DD-4EF3-ACD9-F9A4936C90AE}" srcOrd="3" destOrd="0" presId="urn:microsoft.com/office/officeart/2018/2/layout/IconVerticalSolidList"/>
    <dgm:cxn modelId="{DEF103B7-EBA1-4E92-8C5C-561B7490FAE0}" type="presParOf" srcId="{57B71F7F-8952-4AB6-A835-533DE8DFEBD8}" destId="{8A9C7370-B15B-4E8A-A453-24E93D37132E}" srcOrd="4" destOrd="0" presId="urn:microsoft.com/office/officeart/2018/2/layout/IconVerticalSolidList"/>
    <dgm:cxn modelId="{6C0FCCBA-6564-4BBE-90D6-3301EE2B59A0}" type="presParOf" srcId="{8A9C7370-B15B-4E8A-A453-24E93D37132E}" destId="{7775D15D-5149-48F2-8402-CCE77FD24AC2}" srcOrd="0" destOrd="0" presId="urn:microsoft.com/office/officeart/2018/2/layout/IconVerticalSolidList"/>
    <dgm:cxn modelId="{68B6D6DE-F2D4-4217-9298-28AE2C12163D}" type="presParOf" srcId="{8A9C7370-B15B-4E8A-A453-24E93D37132E}" destId="{8D29DF0F-52FF-431F-8EE9-1EB965C850AD}" srcOrd="1" destOrd="0" presId="urn:microsoft.com/office/officeart/2018/2/layout/IconVerticalSolidList"/>
    <dgm:cxn modelId="{1D0EE4ED-E56E-461F-8E4D-AEDF0D9DEE4C}" type="presParOf" srcId="{8A9C7370-B15B-4E8A-A453-24E93D37132E}" destId="{CEA9AF95-B2BA-480C-A1A6-E400CEA09F0C}" srcOrd="2" destOrd="0" presId="urn:microsoft.com/office/officeart/2018/2/layout/IconVerticalSolidList"/>
    <dgm:cxn modelId="{DAB66FFB-5EA1-41ED-8435-2A8CDABC3F00}" type="presParOf" srcId="{8A9C7370-B15B-4E8A-A453-24E93D37132E}" destId="{BCCFBBD7-E90F-4F88-AB21-E5AA4F074608}"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D0D6440-5190-4B83-8B17-EE71D348CFD5}">
      <dsp:nvSpPr>
        <dsp:cNvPr id="0" name=""/>
        <dsp:cNvSpPr/>
      </dsp:nvSpPr>
      <dsp:spPr>
        <a:xfrm>
          <a:off x="1261" y="393494"/>
          <a:ext cx="4428354" cy="28120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D2A62D5-3617-426B-BE60-E395B34F9CD8}">
      <dsp:nvSpPr>
        <dsp:cNvPr id="0" name=""/>
        <dsp:cNvSpPr/>
      </dsp:nvSpPr>
      <dsp:spPr>
        <a:xfrm>
          <a:off x="493301" y="86093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Based on my analysis, I recommend that Emporium continue investing in high-performing categories such as Technology &amp; Accessories, as they generate the highest sales. I also recommend implementing targeted promotions and marketing strategies to improve sales in lower-performing categories and store locations. </a:t>
          </a:r>
        </a:p>
      </dsp:txBody>
      <dsp:txXfrm>
        <a:off x="575662" y="943292"/>
        <a:ext cx="4263632" cy="2647282"/>
      </dsp:txXfrm>
    </dsp:sp>
    <dsp:sp modelId="{B01E93EB-8CA9-425D-8A66-0B58A41D0858}">
      <dsp:nvSpPr>
        <dsp:cNvPr id="0" name=""/>
        <dsp:cNvSpPr/>
      </dsp:nvSpPr>
      <dsp:spPr>
        <a:xfrm>
          <a:off x="5413694" y="393494"/>
          <a:ext cx="4428354" cy="281200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15F0ACC-C788-4191-AA9C-9CDB89AE1E1E}">
      <dsp:nvSpPr>
        <dsp:cNvPr id="0" name=""/>
        <dsp:cNvSpPr/>
      </dsp:nvSpPr>
      <dsp:spPr>
        <a:xfrm>
          <a:off x="5905734" y="860931"/>
          <a:ext cx="4428354" cy="2812004"/>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Finally, leveraging best-selling books through featured displays and promotional campaigns can help attract more customers and increase revenue. I believe these strategies will help sustain sales growth and improve overall business performance in the next quarter.</a:t>
          </a:r>
        </a:p>
      </dsp:txBody>
      <dsp:txXfrm>
        <a:off x="5988095" y="943292"/>
        <a:ext cx="4263632" cy="26472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4C6C2C-F48B-4D42-B8BB-5393183DB3BC}">
      <dsp:nvSpPr>
        <dsp:cNvPr id="0" name=""/>
        <dsp:cNvSpPr/>
      </dsp:nvSpPr>
      <dsp:spPr>
        <a:xfrm>
          <a:off x="0" y="560"/>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720E559-9E0E-4B85-B5D1-218B23FCB675}">
      <dsp:nvSpPr>
        <dsp:cNvPr id="0" name=""/>
        <dsp:cNvSpPr/>
      </dsp:nvSpPr>
      <dsp:spPr>
        <a:xfrm>
          <a:off x="396941" y="295806"/>
          <a:ext cx="721711" cy="7217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CB03DAE-CE34-4B08-B4C1-4ABBB7B021EE}">
      <dsp:nvSpPr>
        <dsp:cNvPr id="0" name=""/>
        <dsp:cNvSpPr/>
      </dsp:nvSpPr>
      <dsp:spPr>
        <a:xfrm>
          <a:off x="1515593" y="560"/>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1111250">
            <a:lnSpc>
              <a:spcPct val="100000"/>
            </a:lnSpc>
            <a:spcBef>
              <a:spcPct val="0"/>
            </a:spcBef>
            <a:spcAft>
              <a:spcPct val="35000"/>
            </a:spcAft>
            <a:buNone/>
          </a:pPr>
          <a:r>
            <a:rPr lang="en-US" sz="2500" kern="1200"/>
            <a:t>Thank You For Your time </a:t>
          </a:r>
        </a:p>
      </dsp:txBody>
      <dsp:txXfrm>
        <a:off x="1515593" y="560"/>
        <a:ext cx="9137985" cy="1312201"/>
      </dsp:txXfrm>
    </dsp:sp>
    <dsp:sp modelId="{102F3E84-9333-42CA-8D1E-F15D1E813A49}">
      <dsp:nvSpPr>
        <dsp:cNvPr id="0" name=""/>
        <dsp:cNvSpPr/>
      </dsp:nvSpPr>
      <dsp:spPr>
        <a:xfrm>
          <a:off x="0" y="1640813"/>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1EE32D-B19F-42C7-9A93-69A00CCF7809}">
      <dsp:nvSpPr>
        <dsp:cNvPr id="0" name=""/>
        <dsp:cNvSpPr/>
      </dsp:nvSpPr>
      <dsp:spPr>
        <a:xfrm>
          <a:off x="396941" y="1936058"/>
          <a:ext cx="721711" cy="7217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AF1772E-9CD6-451A-8094-0AF1CAA762F5}">
      <dsp:nvSpPr>
        <dsp:cNvPr id="0" name=""/>
        <dsp:cNvSpPr/>
      </dsp:nvSpPr>
      <dsp:spPr>
        <a:xfrm>
          <a:off x="1515593" y="1640813"/>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1111250">
            <a:lnSpc>
              <a:spcPct val="100000"/>
            </a:lnSpc>
            <a:spcBef>
              <a:spcPct val="0"/>
            </a:spcBef>
            <a:spcAft>
              <a:spcPct val="35000"/>
            </a:spcAft>
            <a:buNone/>
          </a:pPr>
          <a:r>
            <a:rPr lang="en-US" sz="2500" kern="1200"/>
            <a:t>You can visit my Git Hub Repository for more insight on EmporiUm west Region</a:t>
          </a:r>
        </a:p>
      </dsp:txBody>
      <dsp:txXfrm>
        <a:off x="1515593" y="1640813"/>
        <a:ext cx="9137985" cy="1312201"/>
      </dsp:txXfrm>
    </dsp:sp>
    <dsp:sp modelId="{7775D15D-5149-48F2-8402-CCE77FD24AC2}">
      <dsp:nvSpPr>
        <dsp:cNvPr id="0" name=""/>
        <dsp:cNvSpPr/>
      </dsp:nvSpPr>
      <dsp:spPr>
        <a:xfrm>
          <a:off x="0" y="3281065"/>
          <a:ext cx="10653579" cy="1312201"/>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D29DF0F-52FF-431F-8EE9-1EB965C850AD}">
      <dsp:nvSpPr>
        <dsp:cNvPr id="0" name=""/>
        <dsp:cNvSpPr/>
      </dsp:nvSpPr>
      <dsp:spPr>
        <a:xfrm>
          <a:off x="396941" y="3576310"/>
          <a:ext cx="721711" cy="72171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CCFBBD7-E90F-4F88-AB21-E5AA4F074608}">
      <dsp:nvSpPr>
        <dsp:cNvPr id="0" name=""/>
        <dsp:cNvSpPr/>
      </dsp:nvSpPr>
      <dsp:spPr>
        <a:xfrm>
          <a:off x="1515593" y="3281065"/>
          <a:ext cx="9137985" cy="131220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875" tIns="138875" rIns="138875" bIns="138875" numCol="1" spcCol="1270" anchor="ctr" anchorCtr="0">
          <a:noAutofit/>
        </a:bodyPr>
        <a:lstStyle/>
        <a:p>
          <a:pPr marL="0" lvl="0" indent="0" algn="l" defTabSz="1111250">
            <a:lnSpc>
              <a:spcPct val="100000"/>
            </a:lnSpc>
            <a:spcBef>
              <a:spcPct val="0"/>
            </a:spcBef>
            <a:spcAft>
              <a:spcPct val="35000"/>
            </a:spcAft>
            <a:buNone/>
          </a:pPr>
          <a:r>
            <a:rPr lang="en-US" sz="2500" kern="1200">
              <a:hlinkClick xmlns:r="http://schemas.openxmlformats.org/officeDocument/2006/relationships" r:id="rId4"/>
            </a:rPr>
            <a:t>https://github.com/kalie-on/Capstone_3.git</a:t>
          </a:r>
          <a:endParaRPr lang="en-US" sz="2500" kern="1200"/>
        </a:p>
      </dsp:txBody>
      <dsp:txXfrm>
        <a:off x="1515593" y="3281065"/>
        <a:ext cx="9137985" cy="1312201"/>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6/25/2026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850607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6/25/2026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0122375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6/25/2026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0175782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6/25/2026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39007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6/25/2026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1138262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6/25/2026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9666973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6/25/2026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53618543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6/25/2026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21283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6/25/2026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018287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6/25/2026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0259269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6/25/2026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3255840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srcRect/>
          <a:stretch>
            <a:fillRect t="-6000" b="-6000"/>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6/25/2026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12275975"/>
      </p:ext>
    </p:extLst>
  </p:cSld>
  <p:clrMap bg1="lt1" tx1="dk1" bg2="lt2" tx2="dk2" accent1="accent1" accent2="accent2" accent3="accent3" accent4="accent4" accent5="accent5" accent6="accent6" hlink="hlink" folHlink="folHlink"/>
  <p:sldLayoutIdLst>
    <p:sldLayoutId id="2147483716" r:id="rId1"/>
    <p:sldLayoutId id="2147483717" r:id="rId2"/>
    <p:sldLayoutId id="2147483718" r:id="rId3"/>
    <p:sldLayoutId id="2147483719" r:id="rId4"/>
    <p:sldLayoutId id="2147483720" r:id="rId5"/>
    <p:sldLayoutId id="2147483714" r:id="rId6"/>
    <p:sldLayoutId id="2147483710" r:id="rId7"/>
    <p:sldLayoutId id="2147483711" r:id="rId8"/>
    <p:sldLayoutId id="2147483712" r:id="rId9"/>
    <p:sldLayoutId id="2147483713" r:id="rId10"/>
    <p:sldLayoutId id="2147483715"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microsoft.com/office/2011/relationships/webextension" Target="../webextensions/webextension1.xml"/><Relationship Id="rId2" Type="http://schemas.openxmlformats.org/officeDocument/2006/relationships/image" Target="../media/image5.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715F32B-FAC3-A232-6254-45A31C63E58F}"/>
              </a:ext>
            </a:extLst>
          </p:cNvPr>
          <p:cNvSpPr>
            <a:spLocks noGrp="1"/>
          </p:cNvSpPr>
          <p:nvPr>
            <p:ph type="title"/>
          </p:nvPr>
        </p:nvSpPr>
        <p:spPr>
          <a:xfrm>
            <a:off x="210841" y="21147"/>
            <a:ext cx="11802787" cy="4830308"/>
          </a:xfrm>
        </p:spPr>
        <p:txBody>
          <a:bodyPr>
            <a:normAutofit/>
          </a:bodyPr>
          <a:lstStyle/>
          <a:p>
            <a:r>
              <a:rPr lang="en-US" sz="5000" dirty="0" err="1">
                <a:solidFill>
                  <a:srgbClr val="0070C0"/>
                </a:solidFill>
                <a:latin typeface="Century Schoolbook"/>
              </a:rPr>
              <a:t>EmporiUm</a:t>
            </a:r>
            <a:r>
              <a:rPr lang="en-US" sz="5000" dirty="0">
                <a:solidFill>
                  <a:srgbClr val="0070C0"/>
                </a:solidFill>
                <a:latin typeface="Century Schoolbook"/>
              </a:rPr>
              <a:t> Sales</a:t>
            </a:r>
            <a:br>
              <a:rPr lang="en-US" sz="5000" dirty="0">
                <a:latin typeface="Century Schoolbook"/>
              </a:rPr>
            </a:br>
            <a:r>
              <a:rPr lang="en-US" sz="5000" dirty="0">
                <a:solidFill>
                  <a:srgbClr val="0070C0"/>
                </a:solidFill>
                <a:latin typeface="Century Schoolbook"/>
              </a:rPr>
              <a:t>Analysis with Power BI</a:t>
            </a:r>
          </a:p>
          <a:p>
            <a:r>
              <a:rPr lang="en-US" sz="5000">
                <a:solidFill>
                  <a:srgbClr val="0070C0"/>
                </a:solidFill>
                <a:latin typeface="Century Schoolbook"/>
              </a:rPr>
              <a:t>West Region</a:t>
            </a:r>
            <a:endParaRPr lang="en-US" sz="5000" dirty="0">
              <a:solidFill>
                <a:srgbClr val="0070C0"/>
              </a:solidFill>
              <a:latin typeface="Century Schoolbook"/>
            </a:endParaRPr>
          </a:p>
          <a:p>
            <a:endParaRPr lang="en-US" sz="5000" dirty="0">
              <a:solidFill>
                <a:srgbClr val="0070C0"/>
              </a:solidFill>
              <a:highlight>
                <a:srgbClr val="00FF00"/>
              </a:highlight>
              <a:latin typeface="Kristen ITC"/>
            </a:endParaRPr>
          </a:p>
        </p:txBody>
      </p:sp>
      <p:sp>
        <p:nvSpPr>
          <p:cNvPr id="5" name="Subtitle 4">
            <a:extLst>
              <a:ext uri="{FF2B5EF4-FFF2-40B4-BE49-F238E27FC236}">
                <a16:creationId xmlns:a16="http://schemas.microsoft.com/office/drawing/2014/main" id="{38885C28-5C1E-79B0-3BAD-AA263462BBB5}"/>
              </a:ext>
            </a:extLst>
          </p:cNvPr>
          <p:cNvSpPr>
            <a:spLocks noGrp="1"/>
          </p:cNvSpPr>
          <p:nvPr>
            <p:ph idx="1"/>
          </p:nvPr>
        </p:nvSpPr>
        <p:spPr>
          <a:xfrm>
            <a:off x="9730334" y="234640"/>
            <a:ext cx="2085788" cy="583610"/>
          </a:xfrm>
        </p:spPr>
        <p:txBody>
          <a:bodyPr vert="horz" lIns="91440" tIns="45720" rIns="91440" bIns="45720" rtlCol="0" anchor="t">
            <a:normAutofit fontScale="70000" lnSpcReduction="20000"/>
          </a:bodyPr>
          <a:lstStyle/>
          <a:p>
            <a:r>
              <a:rPr lang="en-US" sz="2200" b="1">
                <a:solidFill>
                  <a:srgbClr val="0070C0"/>
                </a:solidFill>
                <a:latin typeface="Century Schoolbook"/>
              </a:rPr>
              <a:t>Ndifon Caleb Ndakina</a:t>
            </a:r>
          </a:p>
        </p:txBody>
      </p:sp>
      <p:sp>
        <p:nvSpPr>
          <p:cNvPr id="2" name="Text Placeholder 1">
            <a:extLst>
              <a:ext uri="{FF2B5EF4-FFF2-40B4-BE49-F238E27FC236}">
                <a16:creationId xmlns:a16="http://schemas.microsoft.com/office/drawing/2014/main" id="{29F7E19A-D256-60BA-96D5-48050BEE5A3E}"/>
              </a:ext>
            </a:extLst>
          </p:cNvPr>
          <p:cNvSpPr>
            <a:spLocks noGrp="1"/>
          </p:cNvSpPr>
          <p:nvPr>
            <p:ph type="body" sz="half" idx="2"/>
          </p:nvPr>
        </p:nvSpPr>
        <p:spPr>
          <a:xfrm>
            <a:off x="7122848" y="4861754"/>
            <a:ext cx="4861246" cy="1780773"/>
          </a:xfrm>
        </p:spPr>
        <p:txBody>
          <a:bodyPr>
            <a:normAutofit fontScale="77500" lnSpcReduction="20000"/>
          </a:bodyPr>
          <a:lstStyle/>
          <a:p>
            <a:r>
              <a:rPr lang="en-US" sz="3600">
                <a:solidFill>
                  <a:srgbClr val="0070C0"/>
                </a:solidFill>
                <a:latin typeface="Fairwater Script"/>
              </a:rPr>
              <a:t>                              Colorado</a:t>
            </a:r>
          </a:p>
          <a:p>
            <a:endParaRPr lang="en-US" sz="3600" dirty="0">
              <a:solidFill>
                <a:srgbClr val="92D050"/>
              </a:solidFill>
              <a:latin typeface="Fairwater Script"/>
              <a:ea typeface="Calibri"/>
              <a:cs typeface="Calibri"/>
            </a:endParaRPr>
          </a:p>
          <a:p>
            <a:r>
              <a:rPr lang="en-US" sz="3600" dirty="0">
                <a:solidFill>
                  <a:srgbClr val="92D050"/>
                </a:solidFill>
                <a:latin typeface="Fairwater Script"/>
                <a:ea typeface="Calibri"/>
                <a:cs typeface="Calibri"/>
              </a:rPr>
              <a:t>                              </a:t>
            </a:r>
            <a:r>
              <a:rPr lang="en-US" sz="3600">
                <a:solidFill>
                  <a:srgbClr val="0070C0"/>
                </a:solidFill>
                <a:latin typeface="Fairwater Script"/>
                <a:ea typeface="Calibri"/>
                <a:cs typeface="Calibri"/>
              </a:rPr>
              <a:t>Jim Heck</a:t>
            </a:r>
            <a:r>
              <a:rPr lang="en-US" sz="3600" dirty="0">
                <a:solidFill>
                  <a:schemeClr val="accent6">
                    <a:lumMod val="49000"/>
                  </a:schemeClr>
                </a:solidFill>
                <a:latin typeface="Fairwater Script"/>
                <a:ea typeface="Calibri"/>
                <a:cs typeface="Calibri"/>
              </a:rPr>
              <a:t> </a:t>
            </a:r>
          </a:p>
        </p:txBody>
      </p:sp>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B1D87858-0A06-31B8-6BD5-58053C7B8B11}"/>
              </a:ext>
            </a:extLst>
          </p:cNvPr>
          <p:cNvSpPr>
            <a:spLocks noGrp="1"/>
          </p:cNvSpPr>
          <p:nvPr>
            <p:ph type="title"/>
          </p:nvPr>
        </p:nvSpPr>
        <p:spPr>
          <a:xfrm>
            <a:off x="612648" y="359617"/>
            <a:ext cx="10653578" cy="789654"/>
          </a:xfrm>
        </p:spPr>
        <p:txBody>
          <a:bodyPr>
            <a:normAutofit/>
          </a:bodyPr>
          <a:lstStyle/>
          <a:p>
            <a:r>
              <a:rPr lang="en-US">
                <a:ea typeface="+mj-lt"/>
                <a:cs typeface="+mj-lt"/>
              </a:rPr>
              <a:t>Project Overview</a:t>
            </a:r>
            <a:endParaRPr lang="en-US"/>
          </a:p>
          <a:p>
            <a:endParaRPr lang="en-US"/>
          </a:p>
        </p:txBody>
      </p:sp>
      <p:sp>
        <p:nvSpPr>
          <p:cNvPr id="5" name="Content Placeholder 4">
            <a:extLst>
              <a:ext uri="{FF2B5EF4-FFF2-40B4-BE49-F238E27FC236}">
                <a16:creationId xmlns:a16="http://schemas.microsoft.com/office/drawing/2014/main" id="{58A88E24-EA09-9447-EF06-DEC6C036BC3A}"/>
              </a:ext>
            </a:extLst>
          </p:cNvPr>
          <p:cNvSpPr>
            <a:spLocks noGrp="1"/>
          </p:cNvSpPr>
          <p:nvPr>
            <p:ph idx="1"/>
          </p:nvPr>
        </p:nvSpPr>
        <p:spPr>
          <a:xfrm>
            <a:off x="612647" y="1715532"/>
            <a:ext cx="10653579" cy="3400619"/>
          </a:xfrm>
        </p:spPr>
        <p:txBody>
          <a:bodyPr vert="horz" lIns="91440" tIns="45720" rIns="91440" bIns="45720" rtlCol="0" anchor="t">
            <a:normAutofit/>
          </a:bodyPr>
          <a:lstStyle/>
          <a:p>
            <a:r>
              <a:rPr lang="en-US" b="1">
                <a:ea typeface="+mn-lt"/>
                <a:cs typeface="+mn-lt"/>
              </a:rPr>
              <a:t>This project focuses on Emporium, a retail bookstore company that sells a variety of products, including books, textbooks, technology accessories, art supplies, apparel, and stationery through both in-store and online channels. </a:t>
            </a:r>
          </a:p>
          <a:p>
            <a:r>
              <a:rPr lang="en-US" b="1">
                <a:ea typeface="+mn-lt"/>
                <a:cs typeface="+mn-lt"/>
              </a:rPr>
              <a:t>Using sales data from 2022 to 2025, I cleaned, transformed, modeled, and analyzed the data in Power BI to evaluate business performance in the West region, which is managed by Jim Heck. The goal of this analysis was to identify sales trends, top-performing product categories, leading store locations, and the best-selling books while uncovering opportunities for business growth.</a:t>
            </a:r>
          </a:p>
        </p:txBody>
      </p:sp>
    </p:spTree>
    <p:extLst>
      <p:ext uri="{BB962C8B-B14F-4D97-AF65-F5344CB8AC3E}">
        <p14:creationId xmlns:p14="http://schemas.microsoft.com/office/powerpoint/2010/main" val="22651494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5D6F09-101F-D85D-95B5-57E227444E3D}"/>
              </a:ext>
            </a:extLst>
          </p:cNvPr>
          <p:cNvSpPr>
            <a:spLocks noGrp="1"/>
          </p:cNvSpPr>
          <p:nvPr>
            <p:ph type="title"/>
          </p:nvPr>
        </p:nvSpPr>
        <p:spPr/>
        <p:txBody>
          <a:bodyPr/>
          <a:lstStyle/>
          <a:p>
            <a:r>
              <a:rPr lang="en-US"/>
              <a:t>Data source</a:t>
            </a:r>
          </a:p>
        </p:txBody>
      </p:sp>
      <p:sp>
        <p:nvSpPr>
          <p:cNvPr id="3" name="Content Placeholder 2">
            <a:extLst>
              <a:ext uri="{FF2B5EF4-FFF2-40B4-BE49-F238E27FC236}">
                <a16:creationId xmlns:a16="http://schemas.microsoft.com/office/drawing/2014/main" id="{589FF11E-BD90-3EDA-85E2-5253428A4A5A}"/>
              </a:ext>
            </a:extLst>
          </p:cNvPr>
          <p:cNvSpPr>
            <a:spLocks noGrp="1"/>
          </p:cNvSpPr>
          <p:nvPr>
            <p:ph idx="1"/>
          </p:nvPr>
        </p:nvSpPr>
        <p:spPr/>
        <p:txBody>
          <a:bodyPr vert="horz" lIns="91440" tIns="45720" rIns="91440" bIns="45720" rtlCol="0" anchor="t">
            <a:normAutofit/>
          </a:bodyPr>
          <a:lstStyle/>
          <a:p>
            <a:r>
              <a:rPr lang="en-US" b="1">
                <a:ea typeface="+mn-lt"/>
                <a:cs typeface="+mn-lt"/>
              </a:rPr>
              <a:t>Store Sales</a:t>
            </a:r>
            <a:r>
              <a:rPr lang="en-US">
                <a:ea typeface="+mn-lt"/>
                <a:cs typeface="+mn-lt"/>
              </a:rPr>
              <a:t> – in-store transactions and revenue.</a:t>
            </a:r>
            <a:endParaRPr lang="en-US"/>
          </a:p>
          <a:p>
            <a:r>
              <a:rPr lang="en-US" b="1">
                <a:ea typeface="+mn-lt"/>
                <a:cs typeface="+mn-lt"/>
              </a:rPr>
              <a:t>Online Sales</a:t>
            </a:r>
            <a:r>
              <a:rPr lang="en-US">
                <a:ea typeface="+mn-lt"/>
                <a:cs typeface="+mn-lt"/>
              </a:rPr>
              <a:t> – online transactions and revenue.</a:t>
            </a:r>
            <a:endParaRPr lang="en-US"/>
          </a:p>
          <a:p>
            <a:r>
              <a:rPr lang="en-US" b="1">
                <a:ea typeface="+mn-lt"/>
                <a:cs typeface="+mn-lt"/>
              </a:rPr>
              <a:t>Products</a:t>
            </a:r>
            <a:r>
              <a:rPr lang="en-US">
                <a:ea typeface="+mn-lt"/>
                <a:cs typeface="+mn-lt"/>
              </a:rPr>
              <a:t> – product information, categories, and product details.</a:t>
            </a:r>
            <a:endParaRPr lang="en-US"/>
          </a:p>
          <a:p>
            <a:r>
              <a:rPr lang="en-US" b="1">
                <a:ea typeface="+mn-lt"/>
                <a:cs typeface="+mn-lt"/>
              </a:rPr>
              <a:t>Book List</a:t>
            </a:r>
            <a:r>
              <a:rPr lang="en-US">
                <a:ea typeface="+mn-lt"/>
                <a:cs typeface="+mn-lt"/>
              </a:rPr>
              <a:t> – book titles and author names used for the top-selling books analysis.</a:t>
            </a:r>
            <a:endParaRPr lang="en-US"/>
          </a:p>
          <a:p>
            <a:r>
              <a:rPr lang="en-US" b="1">
                <a:ea typeface="+mn-lt"/>
                <a:cs typeface="+mn-lt"/>
              </a:rPr>
              <a:t>Store Locations</a:t>
            </a:r>
            <a:r>
              <a:rPr lang="en-US">
                <a:ea typeface="+mn-lt"/>
                <a:cs typeface="+mn-lt"/>
              </a:rPr>
              <a:t> – store cities, states, and locations used for store performance and regional analysis.</a:t>
            </a:r>
            <a:endParaRPr lang="en-US"/>
          </a:p>
          <a:p>
            <a:r>
              <a:rPr lang="en-US" b="1">
                <a:ea typeface="+mn-lt"/>
                <a:cs typeface="+mn-lt"/>
              </a:rPr>
              <a:t>Date Table</a:t>
            </a:r>
            <a:r>
              <a:rPr lang="en-US">
                <a:ea typeface="+mn-lt"/>
                <a:cs typeface="+mn-lt"/>
              </a:rPr>
              <a:t> – used for time-based analysis and sales trends from 2022–2025.</a:t>
            </a:r>
            <a:endParaRPr lang="en-US"/>
          </a:p>
          <a:p>
            <a:r>
              <a:rPr lang="en-US" b="1">
                <a:ea typeface="+mn-lt"/>
                <a:cs typeface="+mn-lt"/>
              </a:rPr>
              <a:t>Management Team</a:t>
            </a:r>
            <a:r>
              <a:rPr lang="en-US">
                <a:ea typeface="+mn-lt"/>
                <a:cs typeface="+mn-lt"/>
              </a:rPr>
              <a:t> – regional managers, territories, and leadership information.</a:t>
            </a:r>
            <a:endParaRPr lang="en-US"/>
          </a:p>
          <a:p>
            <a:endParaRPr lang="en-US"/>
          </a:p>
          <a:p>
            <a:endParaRPr lang="en-US"/>
          </a:p>
        </p:txBody>
      </p:sp>
    </p:spTree>
    <p:extLst>
      <p:ext uri="{BB962C8B-B14F-4D97-AF65-F5344CB8AC3E}">
        <p14:creationId xmlns:p14="http://schemas.microsoft.com/office/powerpoint/2010/main" val="3147162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BC3C0-EEE4-F93B-8252-4DDE42605D43}"/>
              </a:ext>
            </a:extLst>
          </p:cNvPr>
          <p:cNvSpPr>
            <a:spLocks noGrp="1"/>
          </p:cNvSpPr>
          <p:nvPr>
            <p:ph type="title"/>
          </p:nvPr>
        </p:nvSpPr>
        <p:spPr>
          <a:xfrm>
            <a:off x="612648" y="5202"/>
            <a:ext cx="10653578" cy="813274"/>
          </a:xfrm>
        </p:spPr>
        <p:txBody>
          <a:bodyPr>
            <a:normAutofit/>
          </a:bodyPr>
          <a:lstStyle/>
          <a:p>
            <a:r>
              <a:rPr lang="en-US" b="0"/>
              <a:t>Identified tools</a:t>
            </a:r>
          </a:p>
        </p:txBody>
      </p:sp>
      <p:sp>
        <p:nvSpPr>
          <p:cNvPr id="3" name="Content Placeholder 2">
            <a:extLst>
              <a:ext uri="{FF2B5EF4-FFF2-40B4-BE49-F238E27FC236}">
                <a16:creationId xmlns:a16="http://schemas.microsoft.com/office/drawing/2014/main" id="{B8C00E2E-6757-BDF8-B8A3-54DBE077CA3D}"/>
              </a:ext>
            </a:extLst>
          </p:cNvPr>
          <p:cNvSpPr>
            <a:spLocks noGrp="1"/>
          </p:cNvSpPr>
          <p:nvPr>
            <p:ph idx="1"/>
          </p:nvPr>
        </p:nvSpPr>
        <p:spPr>
          <a:xfrm>
            <a:off x="612647" y="799954"/>
            <a:ext cx="10653579" cy="5509406"/>
          </a:xfrm>
        </p:spPr>
        <p:txBody>
          <a:bodyPr vert="horz" lIns="91440" tIns="45720" rIns="91440" bIns="45720" rtlCol="0" anchor="t">
            <a:normAutofit fontScale="92500" lnSpcReduction="10000"/>
          </a:bodyPr>
          <a:lstStyle/>
          <a:p>
            <a:pPr>
              <a:buFont typeface="Arial"/>
              <a:buChar char="•"/>
            </a:pPr>
            <a:r>
              <a:rPr lang="en-US" b="1">
                <a:ea typeface="+mn-lt"/>
                <a:cs typeface="+mn-lt"/>
              </a:rPr>
              <a:t>Power BI Desktop</a:t>
            </a:r>
            <a:r>
              <a:rPr lang="en-US">
                <a:ea typeface="+mn-lt"/>
                <a:cs typeface="+mn-lt"/>
              </a:rPr>
              <a:t> – for modeling, analysis, and creating visualizations.</a:t>
            </a:r>
            <a:endParaRPr lang="en-US"/>
          </a:p>
          <a:p>
            <a:pPr>
              <a:buFont typeface="Arial"/>
              <a:buChar char="•"/>
            </a:pPr>
            <a:r>
              <a:rPr lang="en-US" b="1">
                <a:ea typeface="+mn-lt"/>
                <a:cs typeface="+mn-lt"/>
              </a:rPr>
              <a:t>Power Query Editor</a:t>
            </a:r>
            <a:r>
              <a:rPr lang="en-US">
                <a:ea typeface="+mn-lt"/>
                <a:cs typeface="+mn-lt"/>
              </a:rPr>
              <a:t> – for transforming and cleaning the raw data.</a:t>
            </a:r>
            <a:endParaRPr lang="en-US"/>
          </a:p>
          <a:p>
            <a:pPr>
              <a:buFont typeface="Arial"/>
              <a:buChar char="•"/>
            </a:pPr>
            <a:r>
              <a:rPr lang="en-US" b="1">
                <a:ea typeface="+mn-lt"/>
                <a:cs typeface="+mn-lt"/>
              </a:rPr>
              <a:t>DAX (Data Analysis Expressions)</a:t>
            </a:r>
            <a:r>
              <a:rPr lang="en-US">
                <a:ea typeface="+mn-lt"/>
                <a:cs typeface="+mn-lt"/>
              </a:rPr>
              <a:t> – for creating measures, calculations,</a:t>
            </a:r>
          </a:p>
          <a:p>
            <a:pPr>
              <a:buFont typeface="Arial"/>
              <a:buChar char="•"/>
            </a:pPr>
            <a:r>
              <a:rPr lang="en-US" b="1">
                <a:ea typeface="+mn-lt"/>
                <a:cs typeface="+mn-lt"/>
              </a:rPr>
              <a:t>Microsoft Excel</a:t>
            </a:r>
            <a:r>
              <a:rPr lang="en-US">
                <a:ea typeface="+mn-lt"/>
                <a:cs typeface="+mn-lt"/>
              </a:rPr>
              <a:t> – for reviewing and understanding the data </a:t>
            </a:r>
            <a:r>
              <a:rPr lang="en-US" sz="2100">
                <a:ea typeface="+mn-lt"/>
                <a:cs typeface="+mn-lt"/>
              </a:rPr>
              <a:t>source </a:t>
            </a:r>
            <a:r>
              <a:rPr lang="en-US">
                <a:ea typeface="+mn-lt"/>
                <a:cs typeface="+mn-lt"/>
              </a:rPr>
              <a:t>files before importing them into Power BI.</a:t>
            </a:r>
            <a:endParaRPr lang="en-US"/>
          </a:p>
          <a:p>
            <a:pPr>
              <a:buFont typeface="Arial"/>
              <a:buChar char="•"/>
            </a:pPr>
            <a:r>
              <a:rPr lang="en-US" b="1">
                <a:ea typeface="+mn-lt"/>
                <a:cs typeface="+mn-lt"/>
              </a:rPr>
              <a:t>GitHub &amp; Git Bash</a:t>
            </a:r>
            <a:r>
              <a:rPr lang="en-US">
                <a:ea typeface="+mn-lt"/>
                <a:cs typeface="+mn-lt"/>
              </a:rPr>
              <a:t> – for storing and managing project files and tracking project progress</a:t>
            </a:r>
            <a:endParaRPr lang="en-US"/>
          </a:p>
          <a:p>
            <a:pPr marL="0" indent="0">
              <a:buNone/>
            </a:pPr>
            <a:endParaRPr lang="en-US"/>
          </a:p>
          <a:p>
            <a:pPr marL="0" indent="0">
              <a:buNone/>
            </a:pPr>
            <a:r>
              <a:rPr lang="en-US" sz="3900">
                <a:ea typeface="+mn-lt"/>
                <a:cs typeface="+mn-lt"/>
              </a:rPr>
              <a:t>Analysis Guide</a:t>
            </a:r>
            <a:endParaRPr lang="en-US"/>
          </a:p>
          <a:p>
            <a:r>
              <a:rPr lang="en-US" b="1">
                <a:ea typeface="+mn-lt"/>
                <a:cs typeface="+mn-lt"/>
              </a:rPr>
              <a:t>What are the sales trends over time?</a:t>
            </a:r>
            <a:r>
              <a:rPr lang="en-US">
                <a:ea typeface="+mn-lt"/>
                <a:cs typeface="+mn-lt"/>
              </a:rPr>
              <a:t> </a:t>
            </a:r>
            <a:endParaRPr lang="en-US"/>
          </a:p>
          <a:p>
            <a:r>
              <a:rPr lang="en-US" b="1">
                <a:ea typeface="+mn-lt"/>
                <a:cs typeface="+mn-lt"/>
              </a:rPr>
              <a:t>How do sales compare across categories?</a:t>
            </a:r>
            <a:r>
              <a:rPr lang="en-US">
                <a:ea typeface="+mn-lt"/>
                <a:cs typeface="+mn-lt"/>
              </a:rPr>
              <a:t> </a:t>
            </a:r>
            <a:endParaRPr lang="en-US"/>
          </a:p>
          <a:p>
            <a:r>
              <a:rPr lang="en-US" b="1">
                <a:ea typeface="+mn-lt"/>
                <a:cs typeface="+mn-lt"/>
              </a:rPr>
              <a:t>How are sales distributed by state?</a:t>
            </a:r>
            <a:r>
              <a:rPr lang="en-US">
                <a:ea typeface="+mn-lt"/>
                <a:cs typeface="+mn-lt"/>
              </a:rPr>
              <a:t> </a:t>
            </a:r>
            <a:endParaRPr lang="en-US"/>
          </a:p>
          <a:p>
            <a:r>
              <a:rPr lang="en-US" b="1">
                <a:ea typeface="+mn-lt"/>
                <a:cs typeface="+mn-lt"/>
              </a:rPr>
              <a:t>Which books and authors generate the highest sales (excluding textbooks)?</a:t>
            </a:r>
            <a:endParaRPr lang="en-US"/>
          </a:p>
        </p:txBody>
      </p:sp>
    </p:spTree>
    <p:extLst>
      <p:ext uri="{BB962C8B-B14F-4D97-AF65-F5344CB8AC3E}">
        <p14:creationId xmlns:p14="http://schemas.microsoft.com/office/powerpoint/2010/main" val="30360213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3EBC2-0C0C-D4E3-48C9-E79B518199F1}"/>
              </a:ext>
            </a:extLst>
          </p:cNvPr>
          <p:cNvSpPr>
            <a:spLocks noGrp="1"/>
          </p:cNvSpPr>
          <p:nvPr>
            <p:ph type="title"/>
          </p:nvPr>
        </p:nvSpPr>
        <p:spPr>
          <a:xfrm>
            <a:off x="612648" y="4355"/>
            <a:ext cx="10741152" cy="1299172"/>
          </a:xfrm>
        </p:spPr>
        <p:txBody>
          <a:bodyPr>
            <a:normAutofit/>
          </a:bodyPr>
          <a:lstStyle/>
          <a:p>
            <a:r>
              <a:rPr lang="en-US" sz="2000"/>
              <a:t>Question</a:t>
            </a:r>
            <a:br>
              <a:rPr lang="en-US" sz="2000"/>
            </a:br>
            <a:r>
              <a:rPr lang="en-US" sz="2000"/>
              <a:t>What are the sales trends over time?</a:t>
            </a:r>
            <a:r>
              <a:rPr lang="en-US" sz="2000" b="0"/>
              <a:t> </a:t>
            </a:r>
            <a:br>
              <a:rPr lang="en-US" sz="2000" b="0"/>
            </a:br>
            <a:r>
              <a:rPr lang="en-US" sz="2000"/>
              <a:t> How do sales compare across categories?</a:t>
            </a:r>
            <a:endParaRPr lang="en-US"/>
          </a:p>
        </p:txBody>
      </p:sp>
      <p:graphicFrame>
        <p:nvGraphicFramePr>
          <p:cNvPr id="8" name="Content Placeholder 7">
            <a:extLst>
              <a:ext uri="{FF2B5EF4-FFF2-40B4-BE49-F238E27FC236}">
                <a16:creationId xmlns:a16="http://schemas.microsoft.com/office/drawing/2014/main" id="{126CC947-DF95-27FA-F3E3-0060B6FB673E}"/>
              </a:ext>
            </a:extLst>
          </p:cNvPr>
          <p:cNvGraphicFramePr>
            <a:graphicFrameLocks noGrp="1"/>
          </p:cNvGraphicFramePr>
          <p:nvPr>
            <p:ph sz="half" idx="1"/>
            <p:extLst>
              <p:ext uri="{D42A27DB-BD31-4B8C-83A1-F6EECF244321}">
                <p14:modId xmlns:p14="http://schemas.microsoft.com/office/powerpoint/2010/main" val="2118368745"/>
              </p:ext>
            </p:extLst>
          </p:nvPr>
        </p:nvGraphicFramePr>
        <p:xfrm>
          <a:off x="615042" y="1001485"/>
          <a:ext cx="5989674" cy="5493885"/>
        </p:xfrm>
        <a:graphic>
          <a:graphicData uri="http://schemas.openxmlformats.org/drawingml/2006/table">
            <a:tbl>
              <a:tblPr firstRow="1" bandRow="1">
                <a:tableStyleId>{5C22544A-7EE6-4342-B048-85BDC9FD1C3A}</a:tableStyleId>
              </a:tblPr>
              <a:tblGrid>
                <a:gridCol w="5989674">
                  <a:extLst>
                    <a:ext uri="{9D8B030D-6E8A-4147-A177-3AD203B41FA5}">
                      <a16:colId xmlns:a16="http://schemas.microsoft.com/office/drawing/2014/main" val="1157336309"/>
                    </a:ext>
                  </a:extLst>
                </a:gridCol>
              </a:tblGrid>
              <a:tr h="1521956">
                <a:tc>
                  <a:txBody>
                    <a:bodyPr/>
                    <a:lstStyle/>
                    <a:p>
                      <a:pPr lvl="0" algn="l">
                        <a:lnSpc>
                          <a:spcPct val="100000"/>
                        </a:lnSpc>
                        <a:spcBef>
                          <a:spcPts val="0"/>
                        </a:spcBef>
                        <a:spcAft>
                          <a:spcPts val="0"/>
                        </a:spcAft>
                        <a:buNone/>
                      </a:pPr>
                      <a:r>
                        <a:rPr lang="en-US" sz="1600" b="0" i="0" u="none" strike="noStrike" noProof="0">
                          <a:solidFill>
                            <a:schemeClr val="tx1">
                              <a:lumMod val="95000"/>
                              <a:lumOff val="5000"/>
                            </a:schemeClr>
                          </a:solidFill>
                          <a:latin typeface="Neue Haas Grotesk Text Pro"/>
                        </a:rPr>
                        <a:t>This line chart shows the total sales for West region from 2022 to 2025. Sales increased from approximately </a:t>
                      </a:r>
                      <a:r>
                        <a:rPr lang="en-US" sz="1600" b="1" i="0" u="none" strike="noStrike" noProof="0">
                          <a:solidFill>
                            <a:schemeClr val="tx1">
                              <a:lumMod val="95000"/>
                              <a:lumOff val="5000"/>
                            </a:schemeClr>
                          </a:solidFill>
                          <a:latin typeface="Neue Haas Grotesk Text Pro"/>
                        </a:rPr>
                        <a:t>$1.0 m in 2022</a:t>
                      </a:r>
                      <a:r>
                        <a:rPr lang="en-US" sz="1600" b="0" i="0" u="none" strike="noStrike" noProof="0">
                          <a:solidFill>
                            <a:schemeClr val="tx1">
                              <a:lumMod val="95000"/>
                              <a:lumOff val="5000"/>
                            </a:schemeClr>
                          </a:solidFill>
                          <a:latin typeface="Neue Haas Grotesk Text Pro"/>
                        </a:rPr>
                        <a:t> to </a:t>
                      </a:r>
                      <a:r>
                        <a:rPr lang="en-US" sz="1600" b="1" i="0" u="none" strike="noStrike" noProof="0">
                          <a:solidFill>
                            <a:schemeClr val="tx1">
                              <a:lumMod val="95000"/>
                              <a:lumOff val="5000"/>
                            </a:schemeClr>
                          </a:solidFill>
                          <a:latin typeface="Neue Haas Grotesk Text Pro"/>
                        </a:rPr>
                        <a:t>$1.4 m in 2023</a:t>
                      </a:r>
                      <a:r>
                        <a:rPr lang="en-US" sz="1600" b="0" i="0" u="none" strike="noStrike" noProof="0">
                          <a:solidFill>
                            <a:schemeClr val="tx1">
                              <a:lumMod val="95000"/>
                              <a:lumOff val="5000"/>
                            </a:schemeClr>
                          </a:solidFill>
                          <a:latin typeface="Neue Haas Grotesk Text Pro"/>
                        </a:rPr>
                        <a:t>, indicating strong growth. Revenue experienced a slight decline in </a:t>
                      </a:r>
                      <a:r>
                        <a:rPr lang="en-US" sz="1600" b="1" i="0" u="none" strike="noStrike" noProof="0">
                          <a:solidFill>
                            <a:schemeClr val="tx1">
                              <a:lumMod val="95000"/>
                              <a:lumOff val="5000"/>
                            </a:schemeClr>
                          </a:solidFill>
                          <a:latin typeface="Neue Haas Grotesk Text Pro"/>
                        </a:rPr>
                        <a:t>2024</a:t>
                      </a:r>
                      <a:r>
                        <a:rPr lang="en-US" sz="1600" b="0" i="0" u="none" strike="noStrike" noProof="0">
                          <a:solidFill>
                            <a:schemeClr val="tx1">
                              <a:lumMod val="95000"/>
                              <a:lumOff val="5000"/>
                            </a:schemeClr>
                          </a:solidFill>
                          <a:latin typeface="Neue Haas Grotesk Text Pro"/>
                        </a:rPr>
                        <a:t>, dropping to about </a:t>
                      </a:r>
                      <a:r>
                        <a:rPr lang="en-US" sz="1600" b="1" i="0" u="none" strike="noStrike" noProof="0">
                          <a:solidFill>
                            <a:schemeClr val="tx1">
                              <a:lumMod val="95000"/>
                              <a:lumOff val="5000"/>
                            </a:schemeClr>
                          </a:solidFill>
                          <a:latin typeface="Neue Haas Grotesk Text Pro"/>
                        </a:rPr>
                        <a:t>$1.3 million. </a:t>
                      </a:r>
                      <a:endParaRPr lang="en-US" sz="1600" b="0" i="0" u="none" strike="noStrike" noProof="0">
                        <a:solidFill>
                          <a:schemeClr val="tx1">
                            <a:lumMod val="95000"/>
                            <a:lumOff val="5000"/>
                          </a:schemeClr>
                        </a:solidFill>
                      </a:endParaRPr>
                    </a:p>
                  </a:txBody>
                  <a:tcPr/>
                </a:tc>
                <a:extLst>
                  <a:ext uri="{0D108BD9-81ED-4DB2-BD59-A6C34878D82A}">
                    <a16:rowId xmlns:a16="http://schemas.microsoft.com/office/drawing/2014/main" val="3366590308"/>
                  </a:ext>
                </a:extLst>
              </a:tr>
              <a:tr h="1237358">
                <a:tc>
                  <a:txBody>
                    <a:bodyPr/>
                    <a:lstStyle/>
                    <a:p>
                      <a:pPr lvl="0" algn="l">
                        <a:lnSpc>
                          <a:spcPct val="100000"/>
                        </a:lnSpc>
                        <a:spcBef>
                          <a:spcPts val="0"/>
                        </a:spcBef>
                        <a:spcAft>
                          <a:spcPts val="0"/>
                        </a:spcAft>
                        <a:buNone/>
                      </a:pPr>
                      <a:r>
                        <a:rPr lang="en-US" sz="1600" b="0" i="0" u="none" strike="noStrike" noProof="0">
                          <a:solidFill>
                            <a:schemeClr val="tx1">
                              <a:lumMod val="95000"/>
                              <a:lumOff val="5000"/>
                            </a:schemeClr>
                          </a:solidFill>
                          <a:latin typeface="Neue Haas Grotesk Text Pro"/>
                        </a:rPr>
                        <a:t>Despite a slight decline in 2024, sales revenue in the West region increased significantly from 2022 to 2025, reaching a peak of over $2.5 m in 2025.</a:t>
                      </a:r>
                    </a:p>
                    <a:p>
                      <a:pPr lvl="0">
                        <a:buNone/>
                      </a:pPr>
                      <a:endParaRPr lang="en-US" sz="1600"/>
                    </a:p>
                  </a:txBody>
                  <a:tcPr/>
                </a:tc>
                <a:extLst>
                  <a:ext uri="{0D108BD9-81ED-4DB2-BD59-A6C34878D82A}">
                    <a16:rowId xmlns:a16="http://schemas.microsoft.com/office/drawing/2014/main" val="17722674"/>
                  </a:ext>
                </a:extLst>
              </a:tr>
              <a:tr h="816659">
                <a:tc>
                  <a:txBody>
                    <a:bodyPr/>
                    <a:lstStyle/>
                    <a:p>
                      <a:pPr marL="0" lvl="0" indent="0" algn="l">
                        <a:lnSpc>
                          <a:spcPct val="100000"/>
                        </a:lnSpc>
                        <a:spcBef>
                          <a:spcPts val="0"/>
                        </a:spcBef>
                        <a:spcAft>
                          <a:spcPts val="0"/>
                        </a:spcAft>
                        <a:buFont typeface="Arial"/>
                        <a:buChar char="•"/>
                      </a:pPr>
                      <a:r>
                        <a:rPr lang="en-US" sz="1600" b="1" i="0" u="none" strike="noStrike" noProof="0"/>
                        <a:t>Top Category</a:t>
                      </a:r>
                      <a:endParaRPr lang="en-US" sz="1600" b="1" i="0" u="none" strike="noStrike" noProof="0">
                        <a:latin typeface="Neue Haas Grotesk Text Pro"/>
                      </a:endParaRPr>
                    </a:p>
                    <a:p>
                      <a:pPr marL="0" lvl="0" indent="0" algn="l">
                        <a:lnSpc>
                          <a:spcPct val="100000"/>
                        </a:lnSpc>
                        <a:spcBef>
                          <a:spcPts val="0"/>
                        </a:spcBef>
                        <a:spcAft>
                          <a:spcPts val="0"/>
                        </a:spcAft>
                        <a:buNone/>
                      </a:pPr>
                      <a:r>
                        <a:rPr lang="en-US" sz="1600" b="1" i="0" u="none" strike="noStrike" noProof="0"/>
                        <a:t>  Technology &amp; Accessories:</a:t>
                      </a:r>
                      <a:r>
                        <a:rPr lang="en-US" sz="1600" b="0" i="0" u="none" strike="noStrike" noProof="0"/>
                        <a:t> </a:t>
                      </a:r>
                      <a:r>
                        <a:rPr lang="en-US" sz="1600" b="1" i="0" u="none" strike="noStrike" noProof="0"/>
                        <a:t>$4.6M</a:t>
                      </a:r>
                      <a:endParaRPr lang="en-US" sz="1600"/>
                    </a:p>
                  </a:txBody>
                  <a:tcPr/>
                </a:tc>
                <a:extLst>
                  <a:ext uri="{0D108BD9-81ED-4DB2-BD59-A6C34878D82A}">
                    <a16:rowId xmlns:a16="http://schemas.microsoft.com/office/drawing/2014/main" val="3040917723"/>
                  </a:ext>
                </a:extLst>
              </a:tr>
              <a:tr h="965143">
                <a:tc>
                  <a:txBody>
                    <a:bodyPr/>
                    <a:lstStyle/>
                    <a:p>
                      <a:pPr lvl="0" algn="l">
                        <a:lnSpc>
                          <a:spcPct val="100000"/>
                        </a:lnSpc>
                        <a:spcBef>
                          <a:spcPts val="0"/>
                        </a:spcBef>
                        <a:spcAft>
                          <a:spcPts val="0"/>
                        </a:spcAft>
                        <a:buNone/>
                      </a:pPr>
                      <a:r>
                        <a:rPr lang="en-US" sz="1600" b="1" i="0" u="none" strike="noStrike" noProof="0">
                          <a:latin typeface="Neue Haas Grotesk Text Pro"/>
                        </a:rPr>
                        <a:t>Median Category</a:t>
                      </a:r>
                      <a:endParaRPr lang="en-US" sz="1600"/>
                    </a:p>
                    <a:p>
                      <a:pPr marL="285750" lvl="0" indent="-285750" algn="l">
                        <a:lnSpc>
                          <a:spcPct val="100000"/>
                        </a:lnSpc>
                        <a:spcBef>
                          <a:spcPts val="0"/>
                        </a:spcBef>
                        <a:spcAft>
                          <a:spcPts val="0"/>
                        </a:spcAft>
                        <a:buFont typeface="Arial"/>
                        <a:buChar char="•"/>
                      </a:pPr>
                      <a:r>
                        <a:rPr lang="en-US" sz="1600" b="1" i="0" u="none" strike="noStrike" noProof="0">
                          <a:latin typeface="Neue Haas Grotesk Text Pro"/>
                        </a:rPr>
                        <a:t>Art Supplies:</a:t>
                      </a:r>
                      <a:r>
                        <a:rPr lang="en-US" sz="1600" b="0" i="0" u="none" strike="noStrike" noProof="0">
                          <a:latin typeface="Neue Haas Grotesk Text Pro"/>
                        </a:rPr>
                        <a:t> </a:t>
                      </a:r>
                      <a:r>
                        <a:rPr lang="en-US" sz="1600" b="1" i="0" u="none" strike="noStrike" noProof="0">
                          <a:latin typeface="Neue Haas Grotesk Text Pro"/>
                        </a:rPr>
                        <a:t>$0.2M, representing </a:t>
                      </a:r>
                      <a:r>
                        <a:rPr lang="en-US" sz="1600" b="1" i="0" u="none" strike="noStrike" noProof="0" err="1">
                          <a:latin typeface="Neue Haas Grotesk Text Pro"/>
                        </a:rPr>
                        <a:t>th</a:t>
                      </a:r>
                      <a:r>
                        <a:rPr lang="en-US" sz="1600" b="1" i="0" u="none" strike="noStrike" noProof="0">
                          <a:latin typeface="Neue Haas Grotesk Text Pro"/>
                        </a:rPr>
                        <a:t>e average category</a:t>
                      </a:r>
                      <a:endParaRPr lang="en-US" sz="1600"/>
                    </a:p>
                  </a:txBody>
                  <a:tcPr/>
                </a:tc>
                <a:extLst>
                  <a:ext uri="{0D108BD9-81ED-4DB2-BD59-A6C34878D82A}">
                    <a16:rowId xmlns:a16="http://schemas.microsoft.com/office/drawing/2014/main" val="3735220228"/>
                  </a:ext>
                </a:extLst>
              </a:tr>
              <a:tr h="952769">
                <a:tc>
                  <a:txBody>
                    <a:bodyPr/>
                    <a:lstStyle/>
                    <a:p>
                      <a:pPr lvl="0" algn="l">
                        <a:lnSpc>
                          <a:spcPct val="100000"/>
                        </a:lnSpc>
                        <a:spcBef>
                          <a:spcPts val="0"/>
                        </a:spcBef>
                        <a:spcAft>
                          <a:spcPts val="0"/>
                        </a:spcAft>
                        <a:buNone/>
                      </a:pPr>
                      <a:r>
                        <a:rPr lang="en-US" sz="1600" b="1" i="0" u="none" strike="noStrike" noProof="0">
                          <a:latin typeface="Neue Haas Grotesk Text Pro"/>
                        </a:rPr>
                        <a:t>Lowest Categories</a:t>
                      </a:r>
                      <a:endParaRPr lang="en-US" sz="1600"/>
                    </a:p>
                    <a:p>
                      <a:pPr marL="285750" lvl="0" indent="-285750" algn="l">
                        <a:lnSpc>
                          <a:spcPct val="100000"/>
                        </a:lnSpc>
                        <a:spcBef>
                          <a:spcPts val="0"/>
                        </a:spcBef>
                        <a:spcAft>
                          <a:spcPts val="0"/>
                        </a:spcAft>
                        <a:buFont typeface="Arial"/>
                        <a:buChar char="•"/>
                      </a:pPr>
                      <a:r>
                        <a:rPr lang="en-US" sz="1600" b="1" i="0" u="none" strike="noStrike" noProof="0">
                          <a:latin typeface="Neue Haas Grotesk Text Pro"/>
                        </a:rPr>
                        <a:t>Books:</a:t>
                      </a:r>
                      <a:r>
                        <a:rPr lang="en-US" sz="1600" b="0" i="0" u="none" strike="noStrike" noProof="0">
                          <a:latin typeface="Neue Haas Grotesk Text Pro"/>
                        </a:rPr>
                        <a:t> </a:t>
                      </a:r>
                      <a:r>
                        <a:rPr lang="en-US" sz="1600" b="1" i="0" u="none" strike="noStrike" noProof="0">
                          <a:latin typeface="Neue Haas Grotesk Text Pro"/>
                        </a:rPr>
                        <a:t>$0.1M</a:t>
                      </a:r>
                      <a:endParaRPr lang="en-US" sz="1600"/>
                    </a:p>
                    <a:p>
                      <a:pPr marL="285750" lvl="0" indent="-285750" algn="l">
                        <a:lnSpc>
                          <a:spcPct val="100000"/>
                        </a:lnSpc>
                        <a:spcBef>
                          <a:spcPts val="0"/>
                        </a:spcBef>
                        <a:spcAft>
                          <a:spcPts val="0"/>
                        </a:spcAft>
                        <a:buFont typeface="Arial"/>
                        <a:buChar char="•"/>
                      </a:pPr>
                      <a:r>
                        <a:rPr lang="en-US" sz="1600" b="1" i="0" u="none" strike="noStrike" noProof="0">
                          <a:latin typeface="Neue Haas Grotesk Text Pro"/>
                        </a:rPr>
                        <a:t>Stationery &amp; Supplies:</a:t>
                      </a:r>
                      <a:r>
                        <a:rPr lang="en-US" sz="1600" b="0" i="0" u="none" strike="noStrike" noProof="0">
                          <a:latin typeface="Neue Haas Grotesk Text Pro"/>
                        </a:rPr>
                        <a:t> </a:t>
                      </a:r>
                      <a:r>
                        <a:rPr lang="en-US" sz="1600" b="1" i="0" u="none" strike="noStrike" noProof="0">
                          <a:latin typeface="Neue Haas Grotesk Text Pro"/>
                        </a:rPr>
                        <a:t>$0.1M</a:t>
                      </a:r>
                      <a:endParaRPr lang="en-US" sz="1600"/>
                    </a:p>
                  </a:txBody>
                  <a:tcPr/>
                </a:tc>
                <a:extLst>
                  <a:ext uri="{0D108BD9-81ED-4DB2-BD59-A6C34878D82A}">
                    <a16:rowId xmlns:a16="http://schemas.microsoft.com/office/drawing/2014/main" val="3833460569"/>
                  </a:ext>
                </a:extLst>
              </a:tr>
            </a:tbl>
          </a:graphicData>
        </a:graphic>
      </p:graphicFrame>
      <p:pic>
        <p:nvPicPr>
          <p:cNvPr id="6" name="Content Placeholder 5" descr="A screenshot of a graph&#10;&#10;AI-generated content may be incorrect.">
            <a:extLst>
              <a:ext uri="{FF2B5EF4-FFF2-40B4-BE49-F238E27FC236}">
                <a16:creationId xmlns:a16="http://schemas.microsoft.com/office/drawing/2014/main" id="{7007A538-6256-5155-1E7E-035C0FC2215E}"/>
              </a:ext>
            </a:extLst>
          </p:cNvPr>
          <p:cNvPicPr>
            <a:picLocks noGrp="1" noChangeAspect="1"/>
          </p:cNvPicPr>
          <p:nvPr>
            <p:ph sz="half" idx="2"/>
          </p:nvPr>
        </p:nvPicPr>
        <p:blipFill>
          <a:blip r:embed="rId2"/>
          <a:stretch>
            <a:fillRect/>
          </a:stretch>
        </p:blipFill>
        <p:spPr>
          <a:xfrm>
            <a:off x="6613658" y="998311"/>
            <a:ext cx="5572735" cy="5505223"/>
          </a:xfrm>
          <a:prstGeom prst="rect">
            <a:avLst/>
          </a:prstGeom>
        </p:spPr>
      </p:pic>
    </p:spTree>
    <p:extLst>
      <p:ext uri="{BB962C8B-B14F-4D97-AF65-F5344CB8AC3E}">
        <p14:creationId xmlns:p14="http://schemas.microsoft.com/office/powerpoint/2010/main" val="226428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1F1ECC-85DC-B2EE-FCCE-CCC2545A6B98}"/>
              </a:ext>
            </a:extLst>
          </p:cNvPr>
          <p:cNvSpPr>
            <a:spLocks noGrp="1"/>
          </p:cNvSpPr>
          <p:nvPr>
            <p:ph type="title"/>
          </p:nvPr>
        </p:nvSpPr>
        <p:spPr>
          <a:xfrm>
            <a:off x="612648" y="33384"/>
            <a:ext cx="10741152" cy="1037915"/>
          </a:xfrm>
        </p:spPr>
        <p:txBody>
          <a:bodyPr>
            <a:normAutofit fontScale="90000"/>
          </a:bodyPr>
          <a:lstStyle/>
          <a:p>
            <a:pPr marL="228600" indent="-228600">
              <a:lnSpc>
                <a:spcPct val="120000"/>
              </a:lnSpc>
              <a:spcBef>
                <a:spcPts val="1000"/>
              </a:spcBef>
            </a:pPr>
            <a:r>
              <a:rPr lang="en-US" sz="2000"/>
              <a:t>Questions </a:t>
            </a:r>
            <a:br>
              <a:rPr lang="en-US" sz="2000"/>
            </a:br>
            <a:r>
              <a:rPr lang="en-US" sz="2000"/>
              <a:t>How are sales distributed by state?</a:t>
            </a:r>
            <a:r>
              <a:rPr lang="en-US" sz="2000" b="0"/>
              <a:t> </a:t>
            </a:r>
            <a:br>
              <a:rPr lang="en-US" sz="2000" b="0"/>
            </a:br>
            <a:r>
              <a:rPr lang="en-US" sz="2000"/>
              <a:t>Which books and authors generate the highest sales (excluding textbooks)?</a:t>
            </a:r>
            <a:endParaRPr lang="en-US" sz="2000" b="0"/>
          </a:p>
          <a:p>
            <a:endParaRPr lang="en-US"/>
          </a:p>
        </p:txBody>
      </p:sp>
      <p:graphicFrame>
        <p:nvGraphicFramePr>
          <p:cNvPr id="3" name="Content Placeholder 2">
            <a:extLst>
              <a:ext uri="{FF2B5EF4-FFF2-40B4-BE49-F238E27FC236}">
                <a16:creationId xmlns:a16="http://schemas.microsoft.com/office/drawing/2014/main" id="{78F2BB05-C1AF-9BC6-4586-BF749AA99DFD}"/>
              </a:ext>
            </a:extLst>
          </p:cNvPr>
          <p:cNvGraphicFramePr>
            <a:graphicFrameLocks noGrp="1"/>
          </p:cNvGraphicFramePr>
          <p:nvPr>
            <p:ph sz="half" idx="1"/>
            <p:extLst>
              <p:ext uri="{D42A27DB-BD31-4B8C-83A1-F6EECF244321}">
                <p14:modId xmlns:p14="http://schemas.microsoft.com/office/powerpoint/2010/main" val="149927356"/>
              </p:ext>
            </p:extLst>
          </p:nvPr>
        </p:nvGraphicFramePr>
        <p:xfrm>
          <a:off x="614325" y="1228651"/>
          <a:ext cx="5181600" cy="5387126"/>
        </p:xfrm>
        <a:graphic>
          <a:graphicData uri="http://schemas.openxmlformats.org/drawingml/2006/table">
            <a:tbl>
              <a:tblPr firstRow="1" bandRow="1">
                <a:tableStyleId>{5C22544A-7EE6-4342-B048-85BDC9FD1C3A}</a:tableStyleId>
              </a:tblPr>
              <a:tblGrid>
                <a:gridCol w="5181600">
                  <a:extLst>
                    <a:ext uri="{9D8B030D-6E8A-4147-A177-3AD203B41FA5}">
                      <a16:colId xmlns:a16="http://schemas.microsoft.com/office/drawing/2014/main" val="1268101810"/>
                    </a:ext>
                  </a:extLst>
                </a:gridCol>
              </a:tblGrid>
              <a:tr h="1904657">
                <a:tc>
                  <a:txBody>
                    <a:bodyPr/>
                    <a:lstStyle/>
                    <a:p>
                      <a:pPr lvl="0" algn="l">
                        <a:lnSpc>
                          <a:spcPct val="100000"/>
                        </a:lnSpc>
                        <a:spcBef>
                          <a:spcPts val="0"/>
                        </a:spcBef>
                        <a:spcAft>
                          <a:spcPts val="0"/>
                        </a:spcAft>
                        <a:buNone/>
                      </a:pPr>
                      <a:r>
                        <a:rPr lang="en-US" sz="1600" b="0" i="0" u="none" strike="noStrike" noProof="0">
                          <a:solidFill>
                            <a:schemeClr val="tx1">
                              <a:lumMod val="95000"/>
                              <a:lumOff val="5000"/>
                            </a:schemeClr>
                          </a:solidFill>
                          <a:latin typeface="Neue Haas Grotesk Text Pro"/>
                        </a:rPr>
                        <a:t>This donut chart shows the distribution of total sales by state in the West region, which is based in </a:t>
                      </a:r>
                      <a:r>
                        <a:rPr lang="en-US" sz="1600" b="1" i="0" u="none" strike="noStrike" noProof="0">
                          <a:solidFill>
                            <a:schemeClr val="tx1">
                              <a:lumMod val="95000"/>
                              <a:lumOff val="5000"/>
                            </a:schemeClr>
                          </a:solidFill>
                          <a:latin typeface="Neue Haas Grotesk Text Pro"/>
                        </a:rPr>
                        <a:t>Colorado</a:t>
                      </a:r>
                      <a:r>
                        <a:rPr lang="en-US" sz="1600" b="0" i="0" u="none" strike="noStrike" noProof="0">
                          <a:solidFill>
                            <a:schemeClr val="tx1">
                              <a:lumMod val="95000"/>
                              <a:lumOff val="5000"/>
                            </a:schemeClr>
                          </a:solidFill>
                          <a:latin typeface="Neue Haas Grotesk Text Pro"/>
                        </a:rPr>
                        <a:t>, the chart shows that </a:t>
                      </a:r>
                      <a:r>
                        <a:rPr lang="en-US" sz="1600" b="1" i="0" u="none" strike="noStrike" noProof="0">
                          <a:solidFill>
                            <a:schemeClr val="tx1">
                              <a:lumMod val="95000"/>
                              <a:lumOff val="5000"/>
                            </a:schemeClr>
                          </a:solidFill>
                          <a:latin typeface="Neue Haas Grotesk Text Pro"/>
                        </a:rPr>
                        <a:t>Colorado generated 100% of the region’s sales</a:t>
                      </a:r>
                      <a:r>
                        <a:rPr lang="en-US" sz="1600" b="0" i="0" u="none" strike="noStrike" noProof="0">
                          <a:solidFill>
                            <a:schemeClr val="tx1">
                              <a:lumMod val="95000"/>
                              <a:lumOff val="5000"/>
                            </a:schemeClr>
                          </a:solidFill>
                          <a:latin typeface="Neue Haas Grotesk Text Pro"/>
                        </a:rPr>
                        <a:t>, with total revenue of approximately </a:t>
                      </a:r>
                      <a:r>
                        <a:rPr lang="en-US" sz="1600" b="1" i="0" u="none" strike="noStrike" noProof="0">
                          <a:solidFill>
                            <a:schemeClr val="tx1">
                              <a:lumMod val="95000"/>
                              <a:lumOff val="5000"/>
                            </a:schemeClr>
                          </a:solidFill>
                          <a:latin typeface="Neue Haas Grotesk Text Pro"/>
                        </a:rPr>
                        <a:t>$6.41 million, call the trading period of 2022 to 2025.</a:t>
                      </a:r>
                      <a:endParaRPr lang="en-US" sz="1600" b="0" i="0" u="none" strike="noStrike" noProof="0">
                        <a:solidFill>
                          <a:schemeClr val="tx1">
                            <a:lumMod val="95000"/>
                            <a:lumOff val="5000"/>
                          </a:schemeClr>
                        </a:solidFill>
                        <a:latin typeface="Neue Haas Grotesk Text Pro"/>
                      </a:endParaRPr>
                    </a:p>
                  </a:txBody>
                  <a:tcPr/>
                </a:tc>
                <a:extLst>
                  <a:ext uri="{0D108BD9-81ED-4DB2-BD59-A6C34878D82A}">
                    <a16:rowId xmlns:a16="http://schemas.microsoft.com/office/drawing/2014/main" val="3513135313"/>
                  </a:ext>
                </a:extLst>
              </a:tr>
              <a:tr h="1386225">
                <a:tc>
                  <a:txBody>
                    <a:bodyPr/>
                    <a:lstStyle/>
                    <a:p>
                      <a:pPr lvl="0" algn="l">
                        <a:lnSpc>
                          <a:spcPct val="100000"/>
                        </a:lnSpc>
                        <a:spcBef>
                          <a:spcPts val="0"/>
                        </a:spcBef>
                        <a:spcAft>
                          <a:spcPts val="0"/>
                        </a:spcAft>
                        <a:buNone/>
                      </a:pPr>
                      <a:r>
                        <a:rPr lang="en-US" sz="1600" b="0" i="0" u="none" strike="noStrike" noProof="0">
                          <a:solidFill>
                            <a:schemeClr val="tx1">
                              <a:lumMod val="95000"/>
                              <a:lumOff val="5000"/>
                            </a:schemeClr>
                          </a:solidFill>
                          <a:latin typeface="Neue Haas Grotesk Text Pro"/>
                        </a:rPr>
                        <a:t>This table shows the top-selling books in the West region, excluding textbooks. The books are ranked by total sales amount, allowing us to identify the most popular titles and authors among customers.</a:t>
                      </a:r>
                      <a:endParaRPr lang="en-US" sz="1600">
                        <a:solidFill>
                          <a:schemeClr val="tx1">
                            <a:lumMod val="95000"/>
                            <a:lumOff val="5000"/>
                          </a:schemeClr>
                        </a:solidFill>
                      </a:endParaRPr>
                    </a:p>
                  </a:txBody>
                  <a:tcPr/>
                </a:tc>
                <a:extLst>
                  <a:ext uri="{0D108BD9-81ED-4DB2-BD59-A6C34878D82A}">
                    <a16:rowId xmlns:a16="http://schemas.microsoft.com/office/drawing/2014/main" val="3663271975"/>
                  </a:ext>
                </a:extLst>
              </a:tr>
              <a:tr h="2096244">
                <a:tc>
                  <a:txBody>
                    <a:bodyPr/>
                    <a:lstStyle/>
                    <a:p>
                      <a:pPr lvl="0" algn="l">
                        <a:lnSpc>
                          <a:spcPct val="100000"/>
                        </a:lnSpc>
                        <a:spcBef>
                          <a:spcPts val="0"/>
                        </a:spcBef>
                        <a:spcAft>
                          <a:spcPts val="0"/>
                        </a:spcAft>
                        <a:buNone/>
                      </a:pPr>
                      <a:r>
                        <a:rPr lang="en-US" sz="1600" b="0">
                          <a:solidFill>
                            <a:schemeClr val="tx1">
                              <a:lumMod val="95000"/>
                              <a:lumOff val="5000"/>
                            </a:schemeClr>
                          </a:solidFill>
                        </a:rPr>
                        <a:t>Best-Selling Book</a:t>
                      </a:r>
                    </a:p>
                    <a:p>
                      <a:pPr marL="285750" lvl="0" indent="-285750" algn="l">
                        <a:lnSpc>
                          <a:spcPct val="100000"/>
                        </a:lnSpc>
                        <a:spcBef>
                          <a:spcPts val="0"/>
                        </a:spcBef>
                        <a:spcAft>
                          <a:spcPts val="0"/>
                        </a:spcAft>
                        <a:buFont typeface="Arial"/>
                        <a:buChar char="•"/>
                      </a:pPr>
                      <a:r>
                        <a:rPr lang="en-US" sz="1600" b="0" i="0" u="none" strike="noStrike" noProof="0">
                          <a:solidFill>
                            <a:schemeClr val="tx1">
                              <a:lumMod val="95000"/>
                              <a:lumOff val="5000"/>
                            </a:schemeClr>
                          </a:solidFill>
                          <a:latin typeface="Neue Haas Grotesk Text Pro"/>
                        </a:rPr>
                        <a:t>Of Mice and Men — John Steinbeck</a:t>
                      </a:r>
                      <a:endParaRPr lang="en-US" sz="1600" b="0">
                        <a:solidFill>
                          <a:schemeClr val="tx1">
                            <a:lumMod val="95000"/>
                            <a:lumOff val="5000"/>
                          </a:schemeClr>
                        </a:solidFill>
                      </a:endParaRPr>
                    </a:p>
                    <a:p>
                      <a:pPr marL="285750" lvl="0" indent="-285750" algn="l">
                        <a:lnSpc>
                          <a:spcPct val="100000"/>
                        </a:lnSpc>
                        <a:spcBef>
                          <a:spcPts val="0"/>
                        </a:spcBef>
                        <a:spcAft>
                          <a:spcPts val="0"/>
                        </a:spcAft>
                        <a:buFont typeface="Arial"/>
                        <a:buChar char="•"/>
                      </a:pPr>
                      <a:r>
                        <a:rPr lang="en-US" sz="1600" b="0" i="0" u="none" strike="noStrike" noProof="0">
                          <a:solidFill>
                            <a:schemeClr val="tx1">
                              <a:lumMod val="95000"/>
                              <a:lumOff val="5000"/>
                            </a:schemeClr>
                          </a:solidFill>
                          <a:latin typeface="Neue Haas Grotesk Text Pro"/>
                        </a:rPr>
                        <a:t>Sales: $3,010.72 </a:t>
                      </a:r>
                    </a:p>
                    <a:p>
                      <a:pPr marL="285750" lvl="0" indent="-285750" algn="l">
                        <a:lnSpc>
                          <a:spcPct val="100000"/>
                        </a:lnSpc>
                        <a:spcBef>
                          <a:spcPts val="0"/>
                        </a:spcBef>
                        <a:spcAft>
                          <a:spcPts val="0"/>
                        </a:spcAft>
                        <a:buFont typeface="Arial"/>
                        <a:buChar char="•"/>
                      </a:pPr>
                      <a:endParaRPr lang="en-US" sz="1600" b="0" i="0" u="none" strike="noStrike" noProof="0">
                        <a:solidFill>
                          <a:schemeClr val="tx1">
                            <a:lumMod val="95000"/>
                            <a:lumOff val="5000"/>
                          </a:schemeClr>
                        </a:solidFill>
                        <a:latin typeface="Neue Haas Grotesk Text Pro"/>
                      </a:endParaRPr>
                    </a:p>
                    <a:p>
                      <a:pPr lvl="0" indent="0" algn="l">
                        <a:lnSpc>
                          <a:spcPct val="100000"/>
                        </a:lnSpc>
                        <a:spcBef>
                          <a:spcPts val="0"/>
                        </a:spcBef>
                        <a:spcAft>
                          <a:spcPts val="0"/>
                        </a:spcAft>
                        <a:buNone/>
                      </a:pPr>
                      <a:r>
                        <a:rPr lang="en-US" sz="1600" b="0">
                          <a:solidFill>
                            <a:schemeClr val="tx1">
                              <a:lumMod val="95000"/>
                              <a:lumOff val="5000"/>
                            </a:schemeClr>
                          </a:solidFill>
                        </a:rPr>
                        <a:t>Lowest-Selling Book (in the Top 10 List)</a:t>
                      </a:r>
                    </a:p>
                    <a:p>
                      <a:pPr marL="285750" lvl="0" indent="-285750" algn="l">
                        <a:lnSpc>
                          <a:spcPct val="100000"/>
                        </a:lnSpc>
                        <a:spcBef>
                          <a:spcPts val="0"/>
                        </a:spcBef>
                        <a:spcAft>
                          <a:spcPts val="0"/>
                        </a:spcAft>
                        <a:buFont typeface="Arial"/>
                        <a:buChar char="•"/>
                      </a:pPr>
                      <a:r>
                        <a:rPr lang="en-US" sz="1600" b="0" i="0" u="none" strike="noStrike" noProof="0">
                          <a:solidFill>
                            <a:schemeClr val="tx1">
                              <a:lumMod val="95000"/>
                              <a:lumOff val="5000"/>
                            </a:schemeClr>
                          </a:solidFill>
                          <a:latin typeface="Neue Haas Grotesk Text Pro"/>
                        </a:rPr>
                        <a:t>The Tipping Point — Malcolm Gladwell</a:t>
                      </a:r>
                      <a:endParaRPr lang="en-US" sz="1600" b="0">
                        <a:solidFill>
                          <a:schemeClr val="tx1">
                            <a:lumMod val="95000"/>
                            <a:lumOff val="5000"/>
                          </a:schemeClr>
                        </a:solidFill>
                      </a:endParaRPr>
                    </a:p>
                    <a:p>
                      <a:pPr marL="285750" lvl="0" indent="-285750" algn="l">
                        <a:lnSpc>
                          <a:spcPct val="100000"/>
                        </a:lnSpc>
                        <a:spcBef>
                          <a:spcPts val="0"/>
                        </a:spcBef>
                        <a:spcAft>
                          <a:spcPts val="0"/>
                        </a:spcAft>
                        <a:buFont typeface="Arial"/>
                        <a:buChar char="•"/>
                      </a:pPr>
                      <a:r>
                        <a:rPr lang="en-US" sz="1600" b="0" i="0" u="none" strike="noStrike" noProof="0">
                          <a:solidFill>
                            <a:schemeClr val="tx1">
                              <a:lumMod val="95000"/>
                              <a:lumOff val="5000"/>
                            </a:schemeClr>
                          </a:solidFill>
                          <a:latin typeface="Neue Haas Grotesk Text Pro"/>
                        </a:rPr>
                        <a:t>Sales: $2,631.72</a:t>
                      </a:r>
                      <a:endParaRPr lang="en-US" sz="1600" b="0">
                        <a:solidFill>
                          <a:schemeClr val="tx1">
                            <a:lumMod val="95000"/>
                            <a:lumOff val="5000"/>
                          </a:schemeClr>
                        </a:solidFill>
                      </a:endParaRPr>
                    </a:p>
                  </a:txBody>
                  <a:tcPr/>
                </a:tc>
                <a:extLst>
                  <a:ext uri="{0D108BD9-81ED-4DB2-BD59-A6C34878D82A}">
                    <a16:rowId xmlns:a16="http://schemas.microsoft.com/office/drawing/2014/main" val="1084147158"/>
                  </a:ext>
                </a:extLst>
              </a:tr>
            </a:tbl>
          </a:graphicData>
        </a:graphic>
      </p:graphicFrame>
      <p:pic>
        <p:nvPicPr>
          <p:cNvPr id="20" name="Content Placeholder 19" descr="A screenshot of a book report&#10;&#10;AI-generated content may be incorrect.">
            <a:extLst>
              <a:ext uri="{FF2B5EF4-FFF2-40B4-BE49-F238E27FC236}">
                <a16:creationId xmlns:a16="http://schemas.microsoft.com/office/drawing/2014/main" id="{9F411D4F-6AE8-7B4E-C017-7C16027CB0E7}"/>
              </a:ext>
            </a:extLst>
          </p:cNvPr>
          <p:cNvPicPr>
            <a:picLocks noGrp="1" noChangeAspect="1"/>
          </p:cNvPicPr>
          <p:nvPr>
            <p:ph sz="half" idx="2"/>
          </p:nvPr>
        </p:nvPicPr>
        <p:blipFill>
          <a:blip r:embed="rId2"/>
          <a:stretch>
            <a:fillRect/>
          </a:stretch>
        </p:blipFill>
        <p:spPr>
          <a:xfrm>
            <a:off x="5985930" y="1225984"/>
            <a:ext cx="5185376" cy="5559398"/>
          </a:xfrm>
          <a:prstGeom prst="rect">
            <a:avLst/>
          </a:prstGeom>
        </p:spPr>
      </p:pic>
    </p:spTree>
    <p:extLst>
      <p:ext uri="{BB962C8B-B14F-4D97-AF65-F5344CB8AC3E}">
        <p14:creationId xmlns:p14="http://schemas.microsoft.com/office/powerpoint/2010/main" val="9982916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EB3239-3941-2637-2D97-D6E866D91B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316AC3-A95D-C5DC-4494-9BD0EEC18E4E}"/>
              </a:ext>
            </a:extLst>
          </p:cNvPr>
          <p:cNvSpPr>
            <a:spLocks noGrp="1"/>
          </p:cNvSpPr>
          <p:nvPr>
            <p:ph type="title"/>
          </p:nvPr>
        </p:nvSpPr>
        <p:spPr>
          <a:xfrm>
            <a:off x="612648" y="4355"/>
            <a:ext cx="10741152" cy="609744"/>
          </a:xfrm>
        </p:spPr>
        <p:txBody>
          <a:bodyPr>
            <a:normAutofit fontScale="90000"/>
          </a:bodyPr>
          <a:lstStyle/>
          <a:p>
            <a:r>
              <a:rPr lang="en-US"/>
              <a:t>Comparing total revenue by store and top five product categories</a:t>
            </a:r>
            <a:endParaRPr lang="en-US" dirty="0"/>
          </a:p>
        </p:txBody>
      </p:sp>
      <p:graphicFrame>
        <p:nvGraphicFramePr>
          <p:cNvPr id="4" name="Content Placeholder 3">
            <a:extLst>
              <a:ext uri="{FF2B5EF4-FFF2-40B4-BE49-F238E27FC236}">
                <a16:creationId xmlns:a16="http://schemas.microsoft.com/office/drawing/2014/main" id="{564B2C40-C8BE-37B4-B29B-C4A8808AFBD9}"/>
              </a:ext>
            </a:extLst>
          </p:cNvPr>
          <p:cNvGraphicFramePr>
            <a:graphicFrameLocks noGrp="1"/>
          </p:cNvGraphicFramePr>
          <p:nvPr>
            <p:ph sz="half" idx="1"/>
            <p:extLst>
              <p:ext uri="{D42A27DB-BD31-4B8C-83A1-F6EECF244321}">
                <p14:modId xmlns:p14="http://schemas.microsoft.com/office/powerpoint/2010/main" val="1692385523"/>
              </p:ext>
            </p:extLst>
          </p:nvPr>
        </p:nvGraphicFramePr>
        <p:xfrm>
          <a:off x="94511" y="1015999"/>
          <a:ext cx="4569572" cy="5961679"/>
        </p:xfrm>
        <a:graphic>
          <a:graphicData uri="http://schemas.openxmlformats.org/drawingml/2006/table">
            <a:tbl>
              <a:tblPr firstRow="1" bandRow="1">
                <a:tableStyleId>{5C22544A-7EE6-4342-B048-85BDC9FD1C3A}</a:tableStyleId>
              </a:tblPr>
              <a:tblGrid>
                <a:gridCol w="4569572">
                  <a:extLst>
                    <a:ext uri="{9D8B030D-6E8A-4147-A177-3AD203B41FA5}">
                      <a16:colId xmlns:a16="http://schemas.microsoft.com/office/drawing/2014/main" val="3567205080"/>
                    </a:ext>
                  </a:extLst>
                </a:gridCol>
              </a:tblGrid>
              <a:tr h="826479">
                <a:tc>
                  <a:txBody>
                    <a:bodyPr/>
                    <a:lstStyle/>
                    <a:p>
                      <a:pPr lvl="0" algn="l">
                        <a:lnSpc>
                          <a:spcPct val="100000"/>
                        </a:lnSpc>
                        <a:spcBef>
                          <a:spcPts val="0"/>
                        </a:spcBef>
                        <a:spcAft>
                          <a:spcPts val="0"/>
                        </a:spcAft>
                        <a:buNone/>
                      </a:pPr>
                      <a:r>
                        <a:rPr lang="en-US" sz="1600" b="1">
                          <a:solidFill>
                            <a:schemeClr val="tx1">
                              <a:lumMod val="95000"/>
                              <a:lumOff val="5000"/>
                            </a:schemeClr>
                          </a:solidFill>
                        </a:rPr>
                        <a:t>Top 2 Performing Stores</a:t>
                      </a:r>
                      <a:endParaRPr lang="en-US" sz="1600">
                        <a:solidFill>
                          <a:schemeClr val="tx1">
                            <a:lumMod val="95000"/>
                            <a:lumOff val="5000"/>
                          </a:schemeClr>
                        </a:solidFill>
                      </a:endParaRPr>
                    </a:p>
                    <a:p>
                      <a:pPr marL="285750" lvl="0" indent="-285750" algn="l">
                        <a:lnSpc>
                          <a:spcPct val="100000"/>
                        </a:lnSpc>
                        <a:spcBef>
                          <a:spcPts val="0"/>
                        </a:spcBef>
                        <a:spcAft>
                          <a:spcPts val="0"/>
                        </a:spcAft>
                        <a:buFont typeface="Arial"/>
                        <a:buChar char="•"/>
                      </a:pPr>
                      <a:r>
                        <a:rPr lang="en-US" sz="1600" b="1" i="0" u="none" strike="noStrike" noProof="0">
                          <a:solidFill>
                            <a:schemeClr val="tx1">
                              <a:lumMod val="95000"/>
                              <a:lumOff val="5000"/>
                            </a:schemeClr>
                          </a:solidFill>
                          <a:latin typeface="Neue Haas Grotesk Text Pro"/>
                        </a:rPr>
                        <a:t>Denver</a:t>
                      </a:r>
                      <a:r>
                        <a:rPr lang="en-US" sz="1600" b="0" i="0" u="none" strike="noStrike" noProof="0">
                          <a:solidFill>
                            <a:schemeClr val="tx1">
                              <a:lumMod val="95000"/>
                              <a:lumOff val="5000"/>
                            </a:schemeClr>
                          </a:solidFill>
                          <a:latin typeface="Neue Haas Grotesk Text Pro"/>
                        </a:rPr>
                        <a:t> — </a:t>
                      </a:r>
                      <a:r>
                        <a:rPr lang="en-US" sz="1600" b="1" i="0" u="none" strike="noStrike" noProof="0">
                          <a:solidFill>
                            <a:schemeClr val="tx1">
                              <a:lumMod val="95000"/>
                              <a:lumOff val="5000"/>
                            </a:schemeClr>
                          </a:solidFill>
                          <a:latin typeface="Neue Haas Grotesk Text Pro"/>
                        </a:rPr>
                        <a:t>$0.92M</a:t>
                      </a:r>
                      <a:r>
                        <a:rPr lang="en-US" sz="1600" b="0" i="0" u="none" strike="noStrike" noProof="0" dirty="0">
                          <a:solidFill>
                            <a:schemeClr val="tx1">
                              <a:lumMod val="95000"/>
                              <a:lumOff val="5000"/>
                            </a:schemeClr>
                          </a:solidFill>
                          <a:latin typeface="Neue Haas Grotesk Text Pro"/>
                        </a:rPr>
                        <a:t> </a:t>
                      </a:r>
                    </a:p>
                    <a:p>
                      <a:pPr marL="285750" lvl="0" indent="-285750" algn="l">
                        <a:lnSpc>
                          <a:spcPct val="100000"/>
                        </a:lnSpc>
                        <a:spcBef>
                          <a:spcPts val="0"/>
                        </a:spcBef>
                        <a:spcAft>
                          <a:spcPts val="0"/>
                        </a:spcAft>
                        <a:buFont typeface="Arial"/>
                        <a:buChar char="•"/>
                      </a:pPr>
                      <a:r>
                        <a:rPr lang="en-US" sz="1600" b="1" i="0" u="none" strike="noStrike" noProof="0">
                          <a:solidFill>
                            <a:schemeClr val="tx1">
                              <a:lumMod val="95000"/>
                              <a:lumOff val="5000"/>
                            </a:schemeClr>
                          </a:solidFill>
                          <a:latin typeface="Neue Haas Grotesk Text Pro"/>
                        </a:rPr>
                        <a:t>Greeley</a:t>
                      </a:r>
                      <a:r>
                        <a:rPr lang="en-US" sz="1600" b="0" i="0" u="none" strike="noStrike" noProof="0">
                          <a:solidFill>
                            <a:schemeClr val="tx1">
                              <a:lumMod val="95000"/>
                              <a:lumOff val="5000"/>
                            </a:schemeClr>
                          </a:solidFill>
                          <a:latin typeface="Neue Haas Grotesk Text Pro"/>
                        </a:rPr>
                        <a:t> — </a:t>
                      </a:r>
                      <a:r>
                        <a:rPr lang="en-US" sz="1600" b="1" i="0" u="none" strike="noStrike" noProof="0">
                          <a:solidFill>
                            <a:schemeClr val="tx1">
                              <a:lumMod val="95000"/>
                              <a:lumOff val="5000"/>
                            </a:schemeClr>
                          </a:solidFill>
                          <a:latin typeface="Neue Haas Grotesk Text Pro"/>
                        </a:rPr>
                        <a:t>$0.64M</a:t>
                      </a:r>
                      <a:r>
                        <a:rPr lang="en-US" sz="1600" b="0" i="0" u="none" strike="noStrike" noProof="0" dirty="0">
                          <a:solidFill>
                            <a:schemeClr val="tx1">
                              <a:lumMod val="95000"/>
                              <a:lumOff val="5000"/>
                            </a:schemeClr>
                          </a:solidFill>
                          <a:latin typeface="Neue Haas Grotesk Text Pro"/>
                        </a:rPr>
                        <a:t> </a:t>
                      </a:r>
                    </a:p>
                  </a:txBody>
                  <a:tcPr/>
                </a:tc>
                <a:extLst>
                  <a:ext uri="{0D108BD9-81ED-4DB2-BD59-A6C34878D82A}">
                    <a16:rowId xmlns:a16="http://schemas.microsoft.com/office/drawing/2014/main" val="1828764474"/>
                  </a:ext>
                </a:extLst>
              </a:tr>
              <a:tr h="1056057">
                <a:tc>
                  <a:txBody>
                    <a:bodyPr/>
                    <a:lstStyle/>
                    <a:p>
                      <a:pPr lvl="0" algn="l">
                        <a:lnSpc>
                          <a:spcPct val="100000"/>
                        </a:lnSpc>
                        <a:spcBef>
                          <a:spcPts val="0"/>
                        </a:spcBef>
                        <a:spcAft>
                          <a:spcPts val="0"/>
                        </a:spcAft>
                        <a:buNone/>
                      </a:pPr>
                      <a:r>
                        <a:rPr lang="en-US" sz="1600" b="0" i="0" u="none" strike="noStrike" noProof="0">
                          <a:latin typeface="Neue Haas Grotesk Text Pro"/>
                        </a:rPr>
                        <a:t>Denver is the highest-performing store, generating nearly $1 million in sales. Greeley ranks second and is significantly ahead of the remaining stores</a:t>
                      </a:r>
                      <a:endParaRPr lang="en-US" sz="1600"/>
                    </a:p>
                  </a:txBody>
                  <a:tcPr/>
                </a:tc>
                <a:extLst>
                  <a:ext uri="{0D108BD9-81ED-4DB2-BD59-A6C34878D82A}">
                    <a16:rowId xmlns:a16="http://schemas.microsoft.com/office/drawing/2014/main" val="3838637759"/>
                  </a:ext>
                </a:extLst>
              </a:tr>
              <a:tr h="826479">
                <a:tc>
                  <a:txBody>
                    <a:bodyPr/>
                    <a:lstStyle/>
                    <a:p>
                      <a:pPr lvl="0" algn="l">
                        <a:lnSpc>
                          <a:spcPct val="100000"/>
                        </a:lnSpc>
                        <a:spcBef>
                          <a:spcPts val="0"/>
                        </a:spcBef>
                        <a:spcAft>
                          <a:spcPts val="0"/>
                        </a:spcAft>
                        <a:buNone/>
                      </a:pPr>
                      <a:r>
                        <a:rPr lang="en-US" sz="1600" b="1"/>
                        <a:t>Bottom 2 Performing Stores</a:t>
                      </a:r>
                      <a:endParaRPr lang="en-US" sz="1600"/>
                    </a:p>
                    <a:p>
                      <a:pPr marL="285750" lvl="0" indent="-285750" algn="l">
                        <a:lnSpc>
                          <a:spcPct val="100000"/>
                        </a:lnSpc>
                        <a:spcBef>
                          <a:spcPts val="0"/>
                        </a:spcBef>
                        <a:spcAft>
                          <a:spcPts val="0"/>
                        </a:spcAft>
                        <a:buFont typeface="Arial"/>
                        <a:buChar char="•"/>
                      </a:pPr>
                      <a:r>
                        <a:rPr lang="en-US" sz="1600" b="1" i="0" u="none" strike="noStrike" noProof="0">
                          <a:latin typeface="Neue Haas Grotesk Text Pro"/>
                        </a:rPr>
                        <a:t>Parker</a:t>
                      </a:r>
                      <a:r>
                        <a:rPr lang="en-US" sz="1600" b="0" i="0" u="none" strike="noStrike" noProof="0">
                          <a:latin typeface="Neue Haas Grotesk Text Pro"/>
                        </a:rPr>
                        <a:t> — </a:t>
                      </a:r>
                      <a:r>
                        <a:rPr lang="en-US" sz="1600" b="1" i="0" u="none" strike="noStrike" noProof="0">
                          <a:latin typeface="Neue Haas Grotesk Text Pro"/>
                        </a:rPr>
                        <a:t>$0.28M</a:t>
                      </a:r>
                      <a:r>
                        <a:rPr lang="en-US" sz="1600" b="0" i="0" u="none" strike="noStrike" noProof="0" dirty="0">
                          <a:latin typeface="Neue Haas Grotesk Text Pro"/>
                        </a:rPr>
                        <a:t> </a:t>
                      </a:r>
                      <a:endParaRPr lang="en-US" sz="1600" dirty="0"/>
                    </a:p>
                    <a:p>
                      <a:pPr marL="285750" lvl="0" indent="-285750" algn="l">
                        <a:lnSpc>
                          <a:spcPct val="100000"/>
                        </a:lnSpc>
                        <a:spcBef>
                          <a:spcPts val="0"/>
                        </a:spcBef>
                        <a:spcAft>
                          <a:spcPts val="0"/>
                        </a:spcAft>
                        <a:buFont typeface="Arial"/>
                        <a:buChar char="•"/>
                      </a:pPr>
                      <a:r>
                        <a:rPr lang="en-US" sz="1600" b="1" i="0" u="none" strike="noStrike" noProof="0">
                          <a:latin typeface="Neue Haas Grotesk Text Pro"/>
                        </a:rPr>
                        <a:t>Wheat Ridge</a:t>
                      </a:r>
                      <a:r>
                        <a:rPr lang="en-US" sz="1600" b="0" i="0" u="none" strike="noStrike" noProof="0">
                          <a:latin typeface="Neue Haas Grotesk Text Pro"/>
                        </a:rPr>
                        <a:t> — </a:t>
                      </a:r>
                      <a:r>
                        <a:rPr lang="en-US" sz="1600" b="1" i="0" u="none" strike="noStrike" noProof="0">
                          <a:latin typeface="Neue Haas Grotesk Text Pro"/>
                        </a:rPr>
                        <a:t>$0.28M</a:t>
                      </a:r>
                      <a:r>
                        <a:rPr lang="en-US" sz="1600" b="0" i="0" u="none" strike="noStrike" noProof="0" dirty="0">
                          <a:latin typeface="Neue Haas Grotesk Text Pro"/>
                        </a:rPr>
                        <a:t> </a:t>
                      </a:r>
                    </a:p>
                  </a:txBody>
                  <a:tcPr/>
                </a:tc>
                <a:extLst>
                  <a:ext uri="{0D108BD9-81ED-4DB2-BD59-A6C34878D82A}">
                    <a16:rowId xmlns:a16="http://schemas.microsoft.com/office/drawing/2014/main" val="1455629989"/>
                  </a:ext>
                </a:extLst>
              </a:tr>
              <a:tr h="1056057">
                <a:tc>
                  <a:txBody>
                    <a:bodyPr/>
                    <a:lstStyle/>
                    <a:p>
                      <a:pPr lvl="0" algn="l">
                        <a:lnSpc>
                          <a:spcPct val="100000"/>
                        </a:lnSpc>
                        <a:spcBef>
                          <a:spcPts val="0"/>
                        </a:spcBef>
                        <a:spcAft>
                          <a:spcPts val="0"/>
                        </a:spcAft>
                        <a:buNone/>
                      </a:pPr>
                      <a:r>
                        <a:rPr lang="en-US" sz="1600" b="0" i="0" u="none" strike="noStrike" noProof="0">
                          <a:latin typeface="Neue Haas Grotesk Text Pro"/>
                        </a:rPr>
                        <a:t>Parker recorded the lowest sales among all stores, while Wheat Ridge was the second-lowest performer. These locations may require additional marketing efforts increase revenue</a:t>
                      </a:r>
                      <a:endParaRPr lang="en-US" sz="1600"/>
                    </a:p>
                  </a:txBody>
                  <a:tcPr/>
                </a:tc>
                <a:extLst>
                  <a:ext uri="{0D108BD9-81ED-4DB2-BD59-A6C34878D82A}">
                    <a16:rowId xmlns:a16="http://schemas.microsoft.com/office/drawing/2014/main" val="2260111394"/>
                  </a:ext>
                </a:extLst>
              </a:tr>
              <a:tr h="1101972">
                <a:tc>
                  <a:txBody>
                    <a:bodyPr/>
                    <a:lstStyle/>
                    <a:p>
                      <a:pPr lvl="0" algn="l">
                        <a:lnSpc>
                          <a:spcPct val="100000"/>
                        </a:lnSpc>
                        <a:spcBef>
                          <a:spcPts val="0"/>
                        </a:spcBef>
                        <a:spcAft>
                          <a:spcPts val="0"/>
                        </a:spcAft>
                        <a:buNone/>
                      </a:pPr>
                      <a:r>
                        <a:rPr lang="en-US" b="1"/>
                        <a:t>In the Top5-Performing Products,</a:t>
                      </a:r>
                      <a:endParaRPr lang="en-US"/>
                    </a:p>
                    <a:p>
                      <a:pPr marL="285750" lvl="0" indent="-285750" algn="l">
                        <a:lnSpc>
                          <a:spcPct val="100000"/>
                        </a:lnSpc>
                        <a:spcBef>
                          <a:spcPts val="0"/>
                        </a:spcBef>
                        <a:spcAft>
                          <a:spcPts val="0"/>
                        </a:spcAft>
                        <a:buFont typeface="Arial"/>
                        <a:buChar char="•"/>
                      </a:pPr>
                      <a:r>
                        <a:rPr lang="en-US" sz="1800" b="1" i="0" u="none" strike="noStrike" noProof="0">
                          <a:latin typeface="Neue Haas Grotesk Text Pro"/>
                        </a:rPr>
                        <a:t>Apple MacBook Pro M2 14 is </a:t>
                      </a:r>
                      <a:r>
                        <a:rPr lang="en-US" sz="1600" b="0" i="0" u="none" strike="noStrike" noProof="0">
                          <a:latin typeface="Neue Haas Grotesk Text Pro"/>
                        </a:rPr>
                        <a:t>Highest-selling product overall with</a:t>
                      </a:r>
                      <a:r>
                        <a:rPr lang="en-US" sz="1600" b="0" i="0" u="none" strike="noStrike" noProof="0">
                          <a:solidFill>
                            <a:srgbClr val="000000"/>
                          </a:solidFill>
                          <a:latin typeface="Neue Haas Grotesk Text Pro"/>
                        </a:rPr>
                        <a:t> Approximately </a:t>
                      </a:r>
                      <a:r>
                        <a:rPr lang="en-US" sz="1600" b="1" i="0" u="none" strike="noStrike" noProof="0">
                          <a:solidFill>
                            <a:srgbClr val="000000"/>
                          </a:solidFill>
                          <a:latin typeface="Neue Haas Grotesk Text Pro"/>
                        </a:rPr>
                        <a:t>$125,000  2025</a:t>
                      </a:r>
                    </a:p>
                  </a:txBody>
                  <a:tcPr/>
                </a:tc>
                <a:extLst>
                  <a:ext uri="{0D108BD9-81ED-4DB2-BD59-A6C34878D82A}">
                    <a16:rowId xmlns:a16="http://schemas.microsoft.com/office/drawing/2014/main" val="1781173242"/>
                  </a:ext>
                </a:extLst>
              </a:tr>
              <a:tr h="803521">
                <a:tc>
                  <a:txBody>
                    <a:bodyPr/>
                    <a:lstStyle/>
                    <a:p>
                      <a:pPr marL="285750" lvl="0" indent="-285750" algn="l">
                        <a:lnSpc>
                          <a:spcPct val="100000"/>
                        </a:lnSpc>
                        <a:spcBef>
                          <a:spcPts val="0"/>
                        </a:spcBef>
                        <a:spcAft>
                          <a:spcPts val="0"/>
                        </a:spcAft>
                        <a:buFont typeface="Arial"/>
                        <a:buChar char="•"/>
                      </a:pPr>
                      <a:r>
                        <a:rPr lang="en-US" sz="1800" b="1" i="0" u="none" strike="noStrike" noProof="0">
                          <a:latin typeface="Neue Haas Grotesk Text Pro"/>
                        </a:rPr>
                        <a:t>MSI Creator Z16 </a:t>
                      </a:r>
                      <a:r>
                        <a:rPr lang="en-US" sz="1600" b="1" i="0" u="none" strike="noStrike" noProof="0">
                          <a:latin typeface="Neue Haas Grotesk Text Pro"/>
                        </a:rPr>
                        <a:t>is the least in the top5 with </a:t>
                      </a:r>
                      <a:r>
                        <a:rPr lang="en-US" sz="1600" b="0" i="0" u="none" strike="noStrike" noProof="0">
                          <a:solidFill>
                            <a:srgbClr val="000000"/>
                          </a:solidFill>
                          <a:latin typeface="Neue Haas Grotesk Text Pro"/>
                        </a:rPr>
                        <a:t>Approximately </a:t>
                      </a:r>
                      <a:r>
                        <a:rPr lang="en-US" sz="1600" b="1" i="0" u="none" strike="noStrike" noProof="0">
                          <a:solidFill>
                            <a:srgbClr val="000000"/>
                          </a:solidFill>
                          <a:latin typeface="Neue Haas Grotesk Text Pro"/>
                        </a:rPr>
                        <a:t>$85,000</a:t>
                      </a:r>
                      <a:r>
                        <a:rPr lang="en-US" sz="1600" b="1" i="0" u="none" strike="noStrike" noProof="0">
                          <a:latin typeface="Neue Haas Grotesk Text Pro"/>
                        </a:rPr>
                        <a:t>2025 Sales:</a:t>
                      </a:r>
                      <a:r>
                        <a:rPr lang="en-US" sz="1600" b="0" i="0" u="none" strike="noStrike" noProof="0" dirty="0">
                          <a:latin typeface="Neue Haas Grotesk Text Pro"/>
                        </a:rPr>
                        <a:t> </a:t>
                      </a:r>
                      <a:endParaRPr lang="en-US" sz="1600" b="1" i="0" u="none" strike="noStrike" noProof="0" dirty="0">
                        <a:latin typeface="Neue Haas Grotesk Text Pro"/>
                      </a:endParaRPr>
                    </a:p>
                  </a:txBody>
                  <a:tcPr/>
                </a:tc>
                <a:extLst>
                  <a:ext uri="{0D108BD9-81ED-4DB2-BD59-A6C34878D82A}">
                    <a16:rowId xmlns:a16="http://schemas.microsoft.com/office/drawing/2014/main" val="703017099"/>
                  </a:ext>
                </a:extLst>
              </a:tr>
            </a:tbl>
          </a:graphicData>
        </a:graphic>
      </p:graphicFrame>
      <p:pic>
        <p:nvPicPr>
          <p:cNvPr id="3" name="Content Placeholder 2" descr="A screenshot of a computer&#10;&#10;AI-generated content may be incorrect.">
            <a:extLst>
              <a:ext uri="{FF2B5EF4-FFF2-40B4-BE49-F238E27FC236}">
                <a16:creationId xmlns:a16="http://schemas.microsoft.com/office/drawing/2014/main" id="{61ABEDC0-04E3-26FA-DB24-C9D304C36577}"/>
              </a:ext>
            </a:extLst>
          </p:cNvPr>
          <p:cNvPicPr>
            <a:picLocks noGrp="1" noChangeAspect="1"/>
          </p:cNvPicPr>
          <p:nvPr>
            <p:ph sz="half" idx="2"/>
          </p:nvPr>
        </p:nvPicPr>
        <p:blipFill>
          <a:blip r:embed="rId2"/>
          <a:stretch>
            <a:fillRect/>
          </a:stretch>
        </p:blipFill>
        <p:spPr>
          <a:xfrm>
            <a:off x="4958907" y="1035351"/>
            <a:ext cx="7228114" cy="5823027"/>
          </a:xfrm>
          <a:prstGeom prst="rect">
            <a:avLst/>
          </a:prstGeom>
        </p:spPr>
      </p:pic>
    </p:spTree>
    <p:extLst>
      <p:ext uri="{BB962C8B-B14F-4D97-AF65-F5344CB8AC3E}">
        <p14:creationId xmlns:p14="http://schemas.microsoft.com/office/powerpoint/2010/main" val="34141908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Add-in_Banner">
            <a:extLst>
              <a:ext uri="{FF2B5EF4-FFF2-40B4-BE49-F238E27FC236}">
                <a16:creationId xmlns:a16="http://schemas.microsoft.com/office/drawing/2014/main" id="{3469E413-BCF5-4E2F-BE4B-EB617C589FA5}"/>
              </a:ext>
            </a:extLst>
          </p:cNvPr>
          <p:cNvSpPr txBox="1">
            <a:spLocks noGrp="1"/>
          </p:cNvSpPr>
          <p:nvPr>
            <p:ph type="title"/>
          </p:nvPr>
        </p:nvSpPr>
        <p:spPr>
          <a:xfrm>
            <a:off x="0" y="351395"/>
            <a:ext cx="12192000" cy="640515"/>
          </a:xfrm>
          <a:prstGeom prst="rect">
            <a:avLst/>
          </a:prstGeom>
          <a:solidFill>
            <a:srgbClr val="494748">
              <a:alpha val="4706"/>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332000" tIns="180000" rIns="216000" bIns="180000" numCol="1" spcCol="0" rtlCol="0" fromWordArt="0" anchor="ctr" anchorCtr="0" forceAA="0" compatLnSpc="1">
            <a:prstTxWarp prst="textNoShape">
              <a:avLst/>
            </a:prstTxWarp>
            <a:spAutoFit/>
          </a:bodyPr>
          <a:lstStyle/>
          <a:p>
            <a:pPr algn="l" rtl="0">
              <a:spcAft>
                <a:spcPts val="0"/>
              </a:spcAft>
            </a:pPr>
            <a:r>
              <a:rPr lang="en-GB" sz="1800">
                <a:solidFill>
                  <a:srgbClr val="000000"/>
                </a:solidFill>
                <a:effectLst/>
                <a:latin typeface="Segoe UI Light" panose="020B0502040204020203" pitchFamily="34" charset="0"/>
                <a:ea typeface="Calibri" panose="020F0502020204030204" pitchFamily="34" charset="0"/>
                <a:cs typeface="Segoe UI Light" panose="020B0502040204020203" pitchFamily="34" charset="0"/>
              </a:rPr>
              <a:t>Microsoft Power BI</a:t>
            </a:r>
            <a:endParaRPr lang="en-IE" sz="1200">
              <a:effectLst/>
              <a:latin typeface="Segoe UI Light" panose="020B0502040204020203" pitchFamily="34" charset="0"/>
              <a:ea typeface="Calibri" panose="020F0502020204030204" pitchFamily="34" charset="0"/>
              <a:cs typeface="Segoe UI Light" panose="020B0502040204020203" pitchFamily="34" charset="0"/>
            </a:endParaRPr>
          </a:p>
        </p:txBody>
      </p:sp>
      <p:pic>
        <p:nvPicPr>
          <p:cNvPr id="7" name="Add-in_Icon" descr="Icon for Microsoft Power BI.">
            <a:extLst>
              <a:ext uri="{FF2B5EF4-FFF2-40B4-BE49-F238E27FC236}">
                <a16:creationId xmlns:a16="http://schemas.microsoft.com/office/drawing/2014/main" id="{87D43E1C-7B4D-44A2-8E6D-6786349BFB58}"/>
              </a:ext>
            </a:extLst>
          </p:cNvPr>
          <p:cNvPicPr/>
          <p:nvPr/>
        </p:nvPicPr>
        <p:blipFill>
          <a:blip r:embed="rId2"/>
          <a:stretch>
            <a:fillRect/>
          </a:stretch>
        </p:blipFill>
        <p:spPr bwMode="auto">
          <a:xfrm>
            <a:off x="914400" y="530365"/>
            <a:ext cx="291465" cy="291465"/>
          </a:xfrm>
          <a:prstGeom prst="rect">
            <a:avLst/>
          </a:prstGeom>
          <a:noFill/>
        </p:spPr>
      </p:pic>
      <mc:AlternateContent xmlns:mc="http://schemas.openxmlformats.org/markup-compatibility/2006" xmlns:we="http://schemas.microsoft.com/office/webextensions/webextension/2010/11" xmlns:pca="http://schemas.microsoft.com/office/powerpoint/2013/contentapp">
        <mc:Choice Requires="we pca">
          <p:graphicFrame>
            <p:nvGraphicFramePr>
              <p:cNvPr id="2" name="Add-in" descr="Add-in content for Microsoft Power BI."/>
              <p:cNvGraphicFramePr>
                <a:graphicFrameLocks noGrp="1"/>
              </p:cNvGraphicFramePr>
              <p:nvPr/>
            </p:nvGraphicFramePr>
            <p:xfrm>
              <a:off x="721012" y="1170879"/>
              <a:ext cx="10749976" cy="5335725"/>
            </p:xfrm>
            <a:graphic>
              <a:graphicData uri="http://schemas.microsoft.com/office/webextensions/webextension/2010/11">
                <we:webextensionref xmlns:we="http://schemas.microsoft.com/office/webextensions/webextension/2010/11" xmlns:r="http://schemas.openxmlformats.org/officeDocument/2006/relationships" r:id="rId3"/>
              </a:graphicData>
            </a:graphic>
          </p:graphicFrame>
        </mc:Choice>
        <mc:Fallback xmlns="">
          <p:pic>
            <p:nvPicPr>
              <p:cNvPr id="2" name="Add-in" descr="Add-in content for Microsoft Power BI."/>
              <p:cNvPicPr>
                <a:picLocks noGrp="1" noRot="1" noChangeAspect="1" noMove="1" noResize="1" noEditPoints="1" noAdjustHandles="1" noChangeArrowheads="1" noChangeShapeType="1"/>
              </p:cNvPicPr>
              <p:nvPr/>
            </p:nvPicPr>
            <p:blipFill>
              <a:blip r:embed="rId4">
                <a:clrChange>
                  <a:clrFrom>
                    <a:prstClr val="black"/>
                  </a:clrFrom>
                  <a:clrTo>
                    <a:prstClr val="black">
                      <a:alpha val="0"/>
                    </a:prstClr>
                  </a:clrTo>
                </a:clrChange>
              </a:blip>
              <a:stretch>
                <a:fillRect/>
              </a:stretch>
            </p:blipFill>
            <p:spPr>
              <a:xfrm>
                <a:off x="721012" y="1170879"/>
                <a:ext cx="10749976" cy="5335725"/>
              </a:xfrm>
              <a:prstGeom prst="rect">
                <a:avLst/>
              </a:prstGeom>
            </p:spPr>
          </p:pic>
        </mc:Fallback>
      </mc:AlternateContent>
    </p:spTree>
    <p:extLst>
      <p:ext uri="{BB962C8B-B14F-4D97-AF65-F5344CB8AC3E}">
        <p14:creationId xmlns:p14="http://schemas.microsoft.com/office/powerpoint/2010/main" val="32118595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1A22726-DA03-BCB0-F12E-98258FB7E5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41278F-376A-0C81-1616-625EDF8D628C}"/>
              </a:ext>
            </a:extLst>
          </p:cNvPr>
          <p:cNvSpPr>
            <a:spLocks noGrp="1"/>
          </p:cNvSpPr>
          <p:nvPr>
            <p:ph type="title"/>
          </p:nvPr>
        </p:nvSpPr>
        <p:spPr>
          <a:xfrm>
            <a:off x="1524000" y="548640"/>
            <a:ext cx="9160475" cy="1132258"/>
          </a:xfrm>
        </p:spPr>
        <p:txBody>
          <a:bodyPr anchor="ctr">
            <a:normAutofit/>
          </a:bodyPr>
          <a:lstStyle/>
          <a:p>
            <a:pPr algn="ctr"/>
            <a:r>
              <a:rPr lang="en-US"/>
              <a:t>Recommendations for future growth</a:t>
            </a:r>
          </a:p>
        </p:txBody>
      </p:sp>
      <p:graphicFrame>
        <p:nvGraphicFramePr>
          <p:cNvPr id="7" name="Content Placeholder 2">
            <a:extLst>
              <a:ext uri="{FF2B5EF4-FFF2-40B4-BE49-F238E27FC236}">
                <a16:creationId xmlns:a16="http://schemas.microsoft.com/office/drawing/2014/main" id="{D6169E55-4D80-9946-75E7-8AC537BFD878}"/>
              </a:ext>
            </a:extLst>
          </p:cNvPr>
          <p:cNvGraphicFramePr>
            <a:graphicFrameLocks noGrp="1"/>
          </p:cNvGraphicFramePr>
          <p:nvPr>
            <p:ph idx="1"/>
            <p:extLst>
              <p:ext uri="{D42A27DB-BD31-4B8C-83A1-F6EECF244321}">
                <p14:modId xmlns:p14="http://schemas.microsoft.com/office/powerpoint/2010/main" val="1267993268"/>
              </p:ext>
            </p:extLst>
          </p:nvPr>
        </p:nvGraphicFramePr>
        <p:xfrm>
          <a:off x="930876" y="2037806"/>
          <a:ext cx="10335350" cy="406643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630095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9B65F7F7-2FCE-8F01-53DE-15C39342BE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0CCC684-44D2-C0FE-9E76-492D846D50DE}"/>
              </a:ext>
            </a:extLst>
          </p:cNvPr>
          <p:cNvSpPr>
            <a:spLocks noGrp="1"/>
          </p:cNvSpPr>
          <p:nvPr>
            <p:ph type="title"/>
          </p:nvPr>
        </p:nvSpPr>
        <p:spPr>
          <a:xfrm>
            <a:off x="1731821" y="501345"/>
            <a:ext cx="8728364" cy="689279"/>
          </a:xfrm>
        </p:spPr>
        <p:txBody>
          <a:bodyPr vert="horz" lIns="91440" tIns="45720" rIns="91440" bIns="45720" rtlCol="0" anchor="b">
            <a:normAutofit/>
          </a:bodyPr>
          <a:lstStyle/>
          <a:p>
            <a:pPr algn="ctr"/>
            <a:r>
              <a:rPr lang="en-US"/>
              <a:t>Git hub Repository</a:t>
            </a:r>
          </a:p>
        </p:txBody>
      </p:sp>
      <p:graphicFrame>
        <p:nvGraphicFramePr>
          <p:cNvPr id="5" name="Content Placeholder 2">
            <a:extLst>
              <a:ext uri="{FF2B5EF4-FFF2-40B4-BE49-F238E27FC236}">
                <a16:creationId xmlns:a16="http://schemas.microsoft.com/office/drawing/2014/main" id="{4EC9BE1A-80EC-7A3D-7D33-F52BB11B2E48}"/>
              </a:ext>
            </a:extLst>
          </p:cNvPr>
          <p:cNvGraphicFramePr>
            <a:graphicFrameLocks noGrp="1"/>
          </p:cNvGraphicFramePr>
          <p:nvPr>
            <p:ph idx="1"/>
          </p:nvPr>
        </p:nvGraphicFramePr>
        <p:xfrm>
          <a:off x="612647" y="1715532"/>
          <a:ext cx="10653579" cy="459382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8217422"/>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webextensions/_rels/webextension1.xml.rels><?xml version="1.0" encoding="UTF-8" standalone="yes"?>
<Relationships xmlns="http://schemas.openxmlformats.org/package/2006/relationships"><Relationship Id="rId1" Type="http://schemas.openxmlformats.org/officeDocument/2006/relationships/image" Target="../media/image6.png"/></Relationships>
</file>

<file path=ppt/webextensions/webextension1.xml><?xml version="1.0" encoding="utf-8"?>
<we:webextension xmlns:we="http://schemas.microsoft.com/office/webextensions/webextension/2010/11" id="{177335d2-f8d1-444b-b85f-7025d9b01573}">
  <we:reference id="WA200003233" version="2.0.0.3" store="en-US" storeType="OMEX"/>
  <we:alternateReferences/>
  <we:properties>
    <we:property name="Microsoft.Office.CampaignId" value="&quot;none&quot;"/>
    <we:property name="artifactViewState" value="&quot;live&quot;"/>
    <we:property name="backgroundColor" value="&quot;#B3B3B3&quot;"/>
    <we:property name="bookmark" value="&quot;H4sIAAAAAAAAA+1abW/bNhD+K4a+9EsS8EWiyH5r0xQblm5dE6QYhmI4kidHrSx5kpzFC/zfR1J24jR+S5t0eTEQODbvRN495D13J+kisnkzLGD8Kwwwehm9rqovA6i/9Gi0E5XdGBWx1lZSJRSxDKkhBJy0GrZ5VTbRy4uohbqP7UnejKDwE7nBPz/tRFAU76Hvf2VQNLgTDbFuqhKK/F/slJ2orUc42YnwfFhUNfgpj1po0U975tTdb2/CHncrgmnzMzxC03ajJpFApOScgOSUWYGMOLWmUwiWLVTxU4fl96uyhbx0y/ixxEpp0BAmSaylsoSlqR/P8qKdqujxwfmwdt5dXIEjaSYZ1wQI04oDox66djz00lf2DEqDNgoO1th0/lxEP+VYQ21Ox4d4hoUfOVgsvyl6X1cOx3Z8AnXe4VWNaoM3FbvxD5gFUdnmrZsteuPAbaKJg3y65ZfzOCNnc0/1gtqcKWGwdzXgxVMHnKj7fVr9s1+j07PRSzrZuQQKgfPYpkJYJMQkMZKEXAG17y7oV3VuoHCDHeLe7JPZEWA70du6GgTop4YPnOalW++gdEdtgGXbO0bwouMwM5m4g/jxFGsMl7odt3k7Bejn8jpozVSlGA3KNXDOMHdGeKfncPuAfX/BxK97AsUoBIOb9jB3LkHY6jDsVF98xKZ94VU/TdzH5OtDspElSxFYZtfyLZI6QcSUUEiN4pyhXr5FT/04v3PUcHoDLXIdLS1iDpqROLYElJLiuaL1+whqH7Gr8CLKGGNTxUTCCWH+H3+WTPkHwk2k5uMQMLUZNxhTTqVKBCi9CVKv+v0a+zBjt4Pv4JKjtqqxdwTFFIA5b/1g79WgGpVtEL0dldN8TFbtfqYNTZhKteN+yaUkLlH+WJ9+KwuX6pc71fSOq9ZF6xqnwkatM/vO0F54VkjIFU1e9otpHXVV0nRZL/Ku7p+6oPSFmv7sKiJfv0xmNZRb4fNclTQlq/Hm+e82tj/FGL4iPJ+6dyITSx5jZog2rhBMjObI19aOhvAEM50aZjUFVxYllG1LogdVEmUc4iTV3BLN3C6RGOMfTMX3QFurapPbGedssSPPLV8ZdkkoC1PCI0xkawnXBLMWUm5VW6xfd+T6Jq9n7asL34OH5raP0LvOEBuckY5DM1cRMkwYtYYqE1shRejVV+Le4nmrq/PrmPvZHJcyLlOWWimsBUER47WMrCiHhNmYC20TSY3UJt0g3N8hNKN646S0YndCLM+JlvESo4JJgQAWreBIiVDpNnU8jNTxJOkNajsVPWZ280M8NcIYYrVMpWuvWKIEW0sMrmXNkGU2ZkYkypEDKvPYWzL0NzxFrJRhYLREZbfl54PgkOcUjQhSEQuKapLEDJERu75xik2WxgCQWpO4aFRCkg1vvd3pBnYPKlal6SRLOc2QJClSxYiWLF1q6DbE/p8OzzgaNBC77TEMteJGyMfO7Akakbro0Fxg4tNcLDe8kX9Ly0/zoTO1d5g37Q3TnWy3rXorguTu7QlIHlYGusZlo3jdoPqxVTlqt73dNwPe9XdEEGlT5k5mZpBRo6xMllP9Q7hXsfZgNEVuHGfPH4pogHU/tIIWWgiuDLvFcuzklQ1iDJ4u5sjX0OTGk+QsTS7cuEumvbeW3OUtJmiSiYxyboykQq1oorePcm7c49o+BnzeiKx4jPz8omXRKyKPiWSf3o5M+WtahUPprQhJu3O4rorwbQaCqyAKf2Un/XuE9dhZGjSChXv+c+/Str3rK++F1dwceePSVQHDxh8A//6XG7IYfP0Fx9+S0HwFUvjVjkEX+JfF1JW8Wu8qQLsbWxbvakSxiwwVM2ikf7Nr8dPKYN77vCxntvlQvbWnMyJc4uz3L9DxyqLpv2k6H5kLJ3ODdVW1HuzZFs0CohwVxeyWmqCxFYnkzKSa+T9F1jbxCRcmzYzSGafK2DQBqu6lSVlXo86LV77BknDgXPtnFIqC5UQh4LabfwDd/ONJIfd7dD8FQyaL3axGbTMEg++hxAXuBv63Hs+VLoc3eS8dnkz+Ay2N/y9BLAAA&quot;"/>
    <we:property name="creatorSessionId" value="&quot;43a7240a-3c38-4667-9cab-0860d5086755&quot;"/>
    <we:property name="creatorTenantId" value="&quot;bbce5c37-f181-4d0c-9310-7f877336e1cf&quot;"/>
    <we:property name="creatorUserId" value="&quot;1003200509D80EC1&quot;"/>
    <we:property name="datasetId" value="&quot;4e20c73f-5fa3-48ff-8ed3-eb8aab7f707c&quot;"/>
    <we:property name="embedUrl" value="&quot;/reportEmbed?reportId=4f91ce40-8c62-47bd-af1b-e802daed637e&amp;config=eyJjbHVzdGVyVXJsIjoiaHR0cHM6Ly9XQUJJLVdFU1QtVVMtRS1QUklNQVJZLXJlZGlyZWN0LmFuYWx5c2lzLndpbmRvd3MubmV0IiwiZW1iZWRGZWF0dXJlcyI6eyJ1c2FnZU1ldHJpY3NWTmV4dCI6dHJ1ZX19&amp;disableSensitivityBanner=true&amp;storytellingChangeViewModeShortcutKeys=true&quot;"/>
    <we:property name="initialStateBookmark" value="&quot;H4sIAAAAAAAAA+1abW/bOAz+K4G/7EtbyJItS/vWdR3usHXbbUWHw2EYKIlOvbl2znZ2zQ3570fJSZeuedvr9Q0o0oSUJfKR+JC0/SlyRTsqYfIczjB6GD2q6w9n0HwYxNFOVM1kL148Pdp/9fTd8/2jQxLXo66oqzZ6+CnqoBlid1K0Yyj9DCT86+1OBGX5Eob+Vw5lizvRCJu2rqAs/sV+MKm6ZozTnQjPR2XdgJ/ydQcd+mk/0nD6TWvHe4JWBNsVH/E12q6X2lQBU0oIBkrE3EnkjIa1/YBg2dIhfuqw/EFddVBUtIyXpU4pi5ZxxRKjtGM8y7w8L8puNsRMDs9HDXn3aY5KLFWcKy4MA8aNFsBjj1k3GXntvvsIlUUXBQcbbHt/PkW/FdhAY08nz/Ajll5yuFx/VfWyqQnHbnICTdHjVY8bi1cH9vJXmAdV1RUdzRY9JnDbaEqQz/b6Yh4ycj73bFwYtmBKEA4+C7x65gCp+t+n9T8HDdI4Fz2MpzsXQCEIkbhMSoeM2TRBlrLPQB3QBcO6KSyUJOwR92afzI8A34meNPVZgH5m+BmNvHDrCCo6amdYdYNjBK86DjOzKR3EN6fYYLiUdtwV3Qyg36vLoLWzIeX4rNoA5xxzMsI7vYDbKxz6C6Z+3RMoxyEYaNpnBbkEYauDmIY+eINt98APfTulj+mXh2QrS1YisMqu1VukTIqIGYshs1oIjmb1Ft3243xE1HB6BS12GS0jEwGGsyRxDLRW8q6i9ccYGh+x6/Bi2lrrMs1lKhjj/p+4k0z5J8JVpBbjEDBzubCYxCJWOpWgzTZI7Q+HDQ5hzm6H38Elr7u6wcFrKGcALHjrhYP9s3pcdUH1ZFzN8jFbt/u5sXHKdWaI+5VQilGi/LU+vahKSvWrnWoHx3VH0brBqbBRm8z+YWgvPSss5Iq2qIblrI76XNL0WS/yrh6cUlD6Qs28p4rI1y/TeQ1FK7xfqJJmZDXZPv99je23MYYXCO82ujfPfr4u2YlsokSCuWXGUpWbWiNQbCyMLRMp5iaz3JkYqOZLY35f712rei8XkKSZEY4ZTrvEEkx+cZ75CZy8rvD6OuPIFjf2xPmFYRdsuTTf3cAsvTGb2GDW0nxSNw6bR33meFw0896cwvfwurntI/RHp78tzkjPoTmVuxxTHjsba5s4qWS4EbEW9w7PO1OfX8bcz0ZcyoXKeOaUdA5kjJhsZGQdC0i5S4Q0LlWxVcZmW4T7EUI7brZOSWt2J8TygmoVL/FYciURwKGTAmMmdXafOq5H6riV9AaNm6luMrt5kcistJY5ozJFvSNPteQbiYH68Rx57hJuZaqJHFDbm95vor+bKxOtLQdrFGp3X35eCw65S9GIoDRzoGPD0oQjcuY2N06JzbMEADJnU4pGLRXb8r7iD93A/inMujSd5pmIc2RphrHmzCierTT0PsT+nw7PEg1aSGh7LEejhZXqpjN7ilZmFB1GSEx9mkvUlk8pvtLy02JEpg6eFW13xXTS7Xb1YE2Q/Hh7ApLPagt947JVvG5R/bi6Gnf3vd03A973d0wy5TJOJzO3yGOrnUpXU/11uFex8WC0ZWGJsxcPRXSGzTC0gg46CK6M+sUK7PW1C2oMni7nyEfQFtaT5DxNLt24C6b9aS055S0u4zSXeSyEtSqWek0Tff+c6so9rvtnnHcbkTXPyO9etCx7/+Umkezt25EZf82qcKi8FSFp9w43dRm+zUGgCqL0V/bav8fYTMjSMCJYuOc/9y5s27u88l5YjeYoWkpXJYxafwD8y20kchh8fYqTb0lovgIp/WrHYEp85zCjkteYXQ3odhPHk12DKHeRo+YWrfKvrS1/FBvMe1lU1dw2H6pf7emcCFc4+/0L9LyybPpvms5H5tLJSNjUdefBnm/RPCCqcVnOb6nJOHEyVYLbzHD/p9nGJj4V0ma51SYXsbYuSyHWP6VJ2VSjLqrXvp6TChDC+GcUOgYnmEbA+27+GnTzNyeF/Nyj+zYYMl3uZj3u2hFYfAkVLnE38L/zeK51ObymHIVFCOGC2HbDBZ5GLgCaTv8D4b0p5kctAAA=&quot;"/>
    <we:property name="isFiltersActionButtonVisible" value="true"/>
    <we:property name="isVisualContainerHeaderHidden" value="false"/>
    <we:property name="pageDisplayName" value="&quot;Trends/ Category revenue&quot;"/>
    <we:property name="pageName" value="&quot;c58a088330a8312d6e20&quot;"/>
    <we:property name="reportEmbeddedTime" value="&quot;2026-06-24T21:47:51.826Z&quot;"/>
    <we:property name="reportName" value="&quot;Ndakina_capstone3&quot;"/>
    <we:property name="reportState" value="&quot;CONNECTED&quot;"/>
    <we:property name="reportUrl" value="&quot;/groups/me/reports/4f91ce40-8c62-47bd-af1b-e802daed637e/c58a088330a8312d6e20?bookmarkGuid=f584905f-0b07-4afc-ab68-fb975c6c5347&amp;bookmarkUsage=1&amp;ctid=bbce5c37-f181-4d0c-9310-7f877336e1cf&amp;fromEntryPoint=export&quot;"/>
  </we:properties>
  <we:bindings/>
  <we:snapshot xmlns:r="http://schemas.openxmlformats.org/officeDocument/2006/relationships" r:embed="rId1"/>
</we:webextension>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10</Slides>
  <Notes>0</Notes>
  <HiddenSlides>0</HiddenSlide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VanillaVTI</vt:lpstr>
      <vt:lpstr>EmporiUm Sales Analysis with Power BI West Region </vt:lpstr>
      <vt:lpstr>Project Overview </vt:lpstr>
      <vt:lpstr>Data source</vt:lpstr>
      <vt:lpstr>Identified tools</vt:lpstr>
      <vt:lpstr>Question What are the sales trends over time?   How do sales compare across categories?</vt:lpstr>
      <vt:lpstr>Questions  How are sales distributed by state?  Which books and authors generate the highest sales (excluding textbooks)? </vt:lpstr>
      <vt:lpstr>Comparing total revenue by store and top five product categories</vt:lpstr>
      <vt:lpstr>Microsoft Power BI</vt:lpstr>
      <vt:lpstr>Recommendations for future growth</vt:lpstr>
      <vt:lpstr>Git hub Repository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caleb</dc:creator>
  <cp:revision>144</cp:revision>
  <dcterms:created xsi:type="dcterms:W3CDTF">2026-06-24T15:37:14Z</dcterms:created>
  <dcterms:modified xsi:type="dcterms:W3CDTF">2026-06-26T01:26:42Z</dcterms:modified>
</cp:coreProperties>
</file>